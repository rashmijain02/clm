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60" r:id="rId3"/>
    <p:sldId id="257" r:id="rId4"/>
    <p:sldId id="258" r:id="rId5"/>
    <p:sldId id="259"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50" d="100"/>
          <a:sy n="150" d="100"/>
        </p:scale>
        <p:origin x="2886" y="13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812883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Why this matters</a:t>
            </a:r>
          </a:p>
          <a:p>
            <a:r>
              <a:t>The experiment plan asks how to route requests across teams with different, evolving taxonomies without maintaining a full language model per team. Teams need independent quality improvement, rollback, and an explicit fallback when the router is uncertain. The proposed design shares a frozen Qwen3-8B encoder and selects a small team-specific CLM projection-head checkpoint using the request's model field.</a:t>
            </a:r>
          </a:p>
          <a:p>
            <a:endParaRPr/>
          </a:p>
          <a:p>
            <a:r>
              <a:t>What CLM does</a:t>
            </a:r>
          </a:p>
          <a:p>
            <a:r>
              <a:t>CLM is a scorer, not a text generator. It embeds the request state and candidate descriptions, applies learned state/action projections, and scores the candidates. A typed Choice question maps naturally to a routing taxonomy. The reference checkpoint is about 75 MB; it contains the projection heads, not the 8B encoder. The encoder must stay compatible with its trained heads.</a:t>
            </a:r>
          </a:p>
          <a:p>
            <a:endParaRPr/>
          </a:p>
          <a:p>
            <a:r>
              <a:t>Why test before training</a:t>
            </a:r>
          </a:p>
          <a:p>
            <a:r>
              <a:t>The plan starts with zero-shot category descriptions and trains a team head only when that configuration misses its target. This avoids unnecessary training while making the quality gate empirical. The email notebook supplies one concrete six-class proof of concept; it does not test multi-team serving or prove all of the plan's hypotheses.</a:t>
            </a:r>
          </a:p>
          <a:p>
            <a:endParaRPr/>
          </a:p>
          <a:p>
            <a:r>
              <a:t>Hardware and scope</a:t>
            </a:r>
          </a:p>
          <a:p>
            <a:r>
              <a:t>The plan assesses one 24 GB RTX 3090 as feasible for a prototype because only the small heads train on cached embeddings. Its 3090 memory, throughput, and timing estimates are planning assumptions, not measured notebook findings. The notebook does not establish production throughput, availability, or multi-team isolation. No backbone LoRA is used in the reported experiment.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Dataset and request contract</a:t>
            </a:r>
          </a:p>
          <a:p>
            <a:r>
              <a:t>The dataset is jason23322/high-accuracy-email-classifier on Hugging Face, a synthetic, highly regular email benchmark. The task is a closed six-way classification: forum, promotions, social_media, spam, updates, and verify_code. The notebook forms each state from subject and body and asks one typed Choice question. It validates a real CLM server, records the full probability distribution, checkpoints predictions by email ID, and reports failures and coverage.</a:t>
            </a:r>
          </a:p>
          <a:p>
            <a:endParaRPr/>
          </a:p>
          <a:p>
            <a:r>
              <a:t>Splits and selection</a:t>
            </a:r>
          </a:p>
          <a:p>
            <a:r>
              <a:t>The 10,780 published training rows are divided deterministically, with stratification and seed 42, into 8,624 fit rows and 2,156 development rows. The trainer also reserves 10% of fit IDs for internal validation. The published test contains 2,697 emails, roughly 449 to 451 per class. ID-disjointness and file/ID hashes are checked. ID-disjointness is not the same as content independence; later duplicate checks identify substantial repeated content.</a:t>
            </a:r>
          </a:p>
          <a:p>
            <a:endParaRPr/>
          </a:p>
          <a:p>
            <a:r>
              <a:t>Controlled comparison</a:t>
            </a:r>
          </a:p>
          <a:p>
            <a:r>
              <a:t>The standardized before/after comparison uses identical published-test IDs, state representation, six labels, instructions, candidate descriptions, and temperature 1.0. The changed component is the task-specific projection head. The encoder stays frozen. Seed 42 is the declared final model, while seeds 123 and 2026 provide development-only stability checks. The notebook reports that final checkpoint selection was not based on published-test performance.</a:t>
            </a:r>
          </a:p>
          <a:p>
            <a:endParaRPr/>
          </a:p>
          <a:p>
            <a:r>
              <a:t>Training recipe</a:t>
            </a:r>
          </a:p>
          <a:p>
            <a:r>
              <a:t>Training warm-starts from the released head and optimizes the state/action projections and logit scale with hard-label soft cross-entropy. The recipe uses learning rate 5e-4, batch size 256, weight decay 1e-4, up to 30 epochs, and patience 5 on internal-validation accuracy. Seed 42 selects epoch 12. Training runs in Linux/WSL with the GPU environment; the Windows notebook is the evaluation client.</a:t>
            </a:r>
          </a:p>
          <a:p>
            <a:endParaRPr/>
          </a:p>
          <a:p>
            <a:r>
              <a:t>Temperature diagnostic</a:t>
            </a:r>
          </a:p>
          <a:p>
            <a:r>
              <a:t>The original diagnostic at temperature 0.1 produced extreme confidence and log loss 19.3741. Raising temperature to 1.0 lowers log loss to 3.2873 but leaves accuracy at 26.88% and macro F1 at 0.1399. Temperature rescales a fixed set of logits and does not fix their ordering. Use the temperature-1.0 baseline for all headline pre/post probability comparisons.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Headline outcome</a:t>
            </a:r>
          </a:p>
          <a:p>
            <a:r>
              <a:t>On the same 2,697 test emails at temperature 1.0, accuracy rises from 26.88% to 97.59%, a gain of 70.71 percentage points. Macro F1 rises from 0.1399 to 0.9759; this metric gives every class equal weight. Top-2 accuracy rises from 42.23% to 99.67%. The tuned model makes 65 errors versus 1,972 for the zero-shot baseline.</a:t>
            </a:r>
          </a:p>
          <a:p>
            <a:endParaRPr/>
          </a:p>
          <a:p>
            <a:r>
              <a:t>Failure mode resolved</a:t>
            </a:r>
          </a:p>
          <a:p>
            <a:r>
              <a:t>The zero-shot reference model predicts only promotions (1,966 rows) and updates (731 rows), leaving four classes with zero recall. The tuned model predicts all six classes, with recall from 95.56% for forum to 99.11% for social_media. Its largest remaining error pairs are forum to social_media and verify_code to spam, with 15 cases each.</a:t>
            </a:r>
          </a:p>
          <a:p>
            <a:endParaRPr/>
          </a:p>
          <a:p>
            <a:r>
              <a:t>Paired and calibration evidence</a:t>
            </a:r>
          </a:p>
          <a:p>
            <a:r>
              <a:t>Fine-tuning corrects 1,915 baseline mistakes while breaking 8 previously correct predictions. The notebook's class-stratified bootstrap 95% interval for the paired accuracy gain is +69.78 to +71.60 percentage points, conditional on this balanced benchmark. Ten-bin expected calibration error improves from 0.3406 to 0.0070; multiclass log loss improves from 3.2873 to 0.0707. The McNemar result underflows numerical precision; do not interpret the displayed 0.0 as a literal zero probability.</a:t>
            </a:r>
          </a:p>
          <a:p>
            <a:endParaRPr/>
          </a:p>
          <a:p>
            <a:r>
              <a:t>Variance and latency</a:t>
            </a:r>
          </a:p>
          <a:p>
            <a:r>
              <a:t>Development accuracy across three training seeds averages 98.42%, with sample standard deviation 0.37 percentage points on a fixed outer split. Seed 42 has development accuracy 98.28% versus test accuracy 97.59%, a 0.69-point gap. A separate same-email, warm-cache benchmark over 200 requests reports median latency 1.5 ms for zero-shot and 3.2 ms for tuned. This is not new-email, cold-start, end-to-end production, or p95 latency evidence.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What the evidence supports</a:t>
            </a:r>
          </a:p>
          <a:p>
            <a:r>
              <a:t>Task-specific projection-head training can produce a strong classifier on this in-distribution six-class synthetic benchmark while Qwen3-8B remains frozen. This supports testing the plan's per-team specialization mechanism, not declaring a production-ready enterprise router.</a:t>
            </a:r>
          </a:p>
          <a:p>
            <a:endParaRPr/>
          </a:p>
          <a:p>
            <a:r>
              <a:t>Content-overlap caveat</a:t>
            </a:r>
          </a:p>
          <a:p>
            <a:r>
              <a:t>Although IDs are disjoint, 229 test rows (8.5%) exactly match fit subject-plus-body content after normalization, and 1,379 (51.1%) exactly match fit bodies. Tuned accuracy is still 97.61% on the 2,468 rows without exact state overlap and 96.74% on the 1,318 rows without exact body overlap. Exact-match removal does not eliminate paraphrases, templates, or other near-duplicates.</a:t>
            </a:r>
          </a:p>
          <a:p>
            <a:endParaRPr/>
          </a:p>
          <a:p>
            <a:r>
              <a:t>Architecture control</a:t>
            </a:r>
          </a:p>
          <a:p>
            <a:r>
              <a:t>Multinomial logistic regression on the same frozen Qwen state embeddings scores 94.29% development accuracy. This suggests supervision on the representation already solves much of the task. It is a development-only control, not a paired test comparison, and does not prove that CLM's projection architecture uniquely causes the gain. Do not compare this development number directly with the tuned test score as a fair architecture ranking.</a:t>
            </a:r>
          </a:p>
          <a:p>
            <a:endParaRPr/>
          </a:p>
          <a:p>
            <a:r>
              <a:t>Recommended next gate</a:t>
            </a:r>
          </a:p>
          <a:p>
            <a:r>
              <a:t>Before production, assemble representative real team emails with privacy review and group-deduplicated, time-aware splits. Compare zero-shot CLM, tuned CLM, frozen-embedding linear classification, and a conventional text classifier under one frozen test protocol. Select per-team abstention thresholds using validation data, route uncertain inputs to a human or stronger model, test out-of-distribution and adversarial messages, and measure new-state p95 latency, throughput, drift, rollback, and isolation.</a:t>
            </a:r>
          </a:p>
          <a:p>
            <a:endParaRPr/>
          </a:p>
          <a:p>
            <a:r>
              <a:t>Measured versus proposed</a:t>
            </a:r>
          </a:p>
          <a:p>
            <a:r>
              <a:t>This notebook measures zero-shot failure and supervised head adaptation for one taxonomy. Rich-description rewrites, raw-head ablation, one-vs-rest formulations, shared organization heads, shared-then-team heads, hard-negative and replay ablations, learning curves, hierarchy, taxonomy changes, and a tuned abstention policy are not established by these findings. Hardware figures in the plan remain feasibility estimates unless separately benchmarked.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698480" cy="274320"/>
          </a:xfrm>
          <a:prstGeom prst="rect">
            <a:avLst/>
          </a:prstGeom>
          <a:noFill/>
        </p:spPr>
        <p:txBody>
          <a:bodyPr wrap="square" lIns="0" tIns="0" rIns="0" bIns="0">
            <a:spAutoFit/>
          </a:bodyPr>
          <a:lstStyle/>
          <a:p>
            <a:pPr>
              <a:spcAft>
                <a:spcPts val="700"/>
              </a:spcAft>
              <a:defRPr sz="1100" b="1">
                <a:solidFill>
                  <a:srgbClr val="007F82"/>
                </a:solidFill>
                <a:latin typeface="Aptos"/>
              </a:defRPr>
            </a:pPr>
            <a:r>
              <a:t>CLM / EMAIL ROUTING     MOTIVATION</a:t>
            </a:r>
          </a:p>
        </p:txBody>
      </p:sp>
      <p:sp>
        <p:nvSpPr>
          <p:cNvPr id="4" name="TextBox 3"/>
          <p:cNvSpPr txBox="1"/>
          <p:nvPr/>
        </p:nvSpPr>
        <p:spPr>
          <a:xfrm>
            <a:off x="548640" y="768096"/>
            <a:ext cx="11064240" cy="594360"/>
          </a:xfrm>
          <a:prstGeom prst="rect">
            <a:avLst/>
          </a:prstGeom>
          <a:noFill/>
        </p:spPr>
        <p:txBody>
          <a:bodyPr wrap="square" lIns="0" tIns="0" rIns="0" bIns="0">
            <a:spAutoFit/>
          </a:bodyPr>
          <a:lstStyle/>
          <a:p>
            <a:pPr>
              <a:spcAft>
                <a:spcPts val="700"/>
              </a:spcAft>
              <a:defRPr sz="3000" b="1">
                <a:solidFill>
                  <a:srgbClr val="102A43"/>
                </a:solidFill>
                <a:latin typeface="Aptos"/>
              </a:defRPr>
            </a:pPr>
            <a:r>
              <a:t>Specialize the router, not the entire language model</a:t>
            </a:r>
          </a:p>
        </p:txBody>
      </p:sp>
      <p:sp>
        <p:nvSpPr>
          <p:cNvPr id="5" name="TextBox 4"/>
          <p:cNvSpPr txBox="1"/>
          <p:nvPr/>
        </p:nvSpPr>
        <p:spPr>
          <a:xfrm>
            <a:off x="548640" y="1444752"/>
            <a:ext cx="10972800" cy="502920"/>
          </a:xfrm>
          <a:prstGeom prst="rect">
            <a:avLst/>
          </a:prstGeom>
          <a:noFill/>
        </p:spPr>
        <p:txBody>
          <a:bodyPr wrap="square" lIns="0" tIns="0" rIns="0" bIns="0">
            <a:spAutoFit/>
          </a:bodyPr>
          <a:lstStyle/>
          <a:p>
            <a:pPr>
              <a:spcAft>
                <a:spcPts val="700"/>
              </a:spcAft>
              <a:defRPr sz="1600" b="0">
                <a:solidFill>
                  <a:srgbClr val="526779"/>
                </a:solidFill>
                <a:latin typeface="Aptos"/>
              </a:defRPr>
            </a:pPr>
            <a:r>
              <a:t>Goal: adapt to each team's taxonomy without a separate 8B model for every team.</a:t>
            </a:r>
          </a:p>
        </p:txBody>
      </p:sp>
      <p:sp>
        <p:nvSpPr>
          <p:cNvPr id="6" name="Rectangle 5"/>
          <p:cNvSpPr/>
          <p:nvPr/>
        </p:nvSpPr>
        <p:spPr>
          <a:xfrm>
            <a:off x="548640" y="6446520"/>
            <a:ext cx="11064240" cy="10972"/>
          </a:xfrm>
          <a:prstGeom prst="rect">
            <a:avLst/>
          </a:prstGeom>
          <a:solidFill>
            <a:srgbClr val="D9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6565392"/>
            <a:ext cx="10515600" cy="182880"/>
          </a:xfrm>
          <a:prstGeom prst="rect">
            <a:avLst/>
          </a:prstGeom>
          <a:noFill/>
        </p:spPr>
        <p:txBody>
          <a:bodyPr wrap="square" lIns="0" tIns="0" rIns="0" bIns="0">
            <a:spAutoFit/>
          </a:bodyPr>
          <a:lstStyle/>
          <a:p>
            <a:pPr>
              <a:spcAft>
                <a:spcPts val="700"/>
              </a:spcAft>
              <a:defRPr sz="900" b="0">
                <a:solidFill>
                  <a:srgbClr val="526779"/>
                </a:solidFill>
                <a:latin typeface="Aptos"/>
              </a:defRPr>
            </a:pPr>
            <a:r>
              <a:t>Sources: experiment.md; clm_email_classification_evaluation.ipynb | Saved results, not rerun</a:t>
            </a:r>
          </a:p>
        </p:txBody>
      </p:sp>
      <p:sp>
        <p:nvSpPr>
          <p:cNvPr id="8" name="TextBox 7"/>
          <p:cNvSpPr txBox="1"/>
          <p:nvPr/>
        </p:nvSpPr>
        <p:spPr>
          <a:xfrm>
            <a:off x="11064240" y="6528816"/>
            <a:ext cx="548640" cy="219456"/>
          </a:xfrm>
          <a:prstGeom prst="rect">
            <a:avLst/>
          </a:prstGeom>
          <a:noFill/>
        </p:spPr>
        <p:txBody>
          <a:bodyPr wrap="square" lIns="0" tIns="0" rIns="0" bIns="0">
            <a:spAutoFit/>
          </a:bodyPr>
          <a:lstStyle/>
          <a:p>
            <a:pPr>
              <a:spcAft>
                <a:spcPts val="700"/>
              </a:spcAft>
              <a:defRPr sz="1000" b="0">
                <a:solidFill>
                  <a:srgbClr val="526779"/>
                </a:solidFill>
                <a:latin typeface="Aptos"/>
              </a:defRPr>
            </a:pPr>
            <a:r>
              <a:t>1 / 4</a:t>
            </a:r>
          </a:p>
        </p:txBody>
      </p:sp>
      <p:sp>
        <p:nvSpPr>
          <p:cNvPr id="9" name="Rounded Rectangle 8"/>
          <p:cNvSpPr/>
          <p:nvPr/>
        </p:nvSpPr>
        <p:spPr>
          <a:xfrm>
            <a:off x="548640" y="2176272"/>
            <a:ext cx="3657600" cy="3337560"/>
          </a:xfrm>
          <a:prstGeom prst="roundRect">
            <a:avLst/>
          </a:prstGeom>
          <a:solidFill>
            <a:srgbClr val="10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 y="2423160"/>
            <a:ext cx="3154680" cy="320040"/>
          </a:xfrm>
          <a:prstGeom prst="rect">
            <a:avLst/>
          </a:prstGeom>
          <a:noFill/>
        </p:spPr>
        <p:txBody>
          <a:bodyPr wrap="square" lIns="0" tIns="0" rIns="0" bIns="0">
            <a:spAutoFit/>
          </a:bodyPr>
          <a:lstStyle/>
          <a:p>
            <a:pPr>
              <a:spcAft>
                <a:spcPts val="700"/>
              </a:spcAft>
              <a:defRPr sz="1300" b="1">
                <a:solidFill>
                  <a:srgbClr val="6CE0CF"/>
                </a:solidFill>
                <a:latin typeface="Aptos"/>
              </a:defRPr>
            </a:pPr>
            <a:r>
              <a:t>THE ROUTING PROBLEM</a:t>
            </a:r>
          </a:p>
        </p:txBody>
      </p:sp>
      <p:sp>
        <p:nvSpPr>
          <p:cNvPr id="11" name="TextBox 10"/>
          <p:cNvSpPr txBox="1"/>
          <p:nvPr/>
        </p:nvSpPr>
        <p:spPr>
          <a:xfrm>
            <a:off x="804672" y="2907792"/>
            <a:ext cx="3063240" cy="2286000"/>
          </a:xfrm>
          <a:prstGeom prst="rect">
            <a:avLst/>
          </a:prstGeom>
          <a:noFill/>
        </p:spPr>
        <p:txBody>
          <a:bodyPr wrap="square" lIns="0" tIns="0" rIns="0" bIns="0">
            <a:spAutoFit/>
          </a:bodyPr>
          <a:lstStyle/>
          <a:p>
            <a:pPr>
              <a:spcAft>
                <a:spcPts val="700"/>
              </a:spcAft>
              <a:defRPr sz="1800" b="0">
                <a:solidFill>
                  <a:srgbClr val="FFFFFF"/>
                </a:solidFill>
                <a:latin typeface="Aptos"/>
              </a:defRPr>
            </a:pPr>
            <a:r>
              <a:t>Team-specific taxonomies</a:t>
            </a:r>
          </a:p>
          <a:p>
            <a:pPr>
              <a:spcAft>
                <a:spcPts val="700"/>
              </a:spcAft>
              <a:defRPr sz="1800" b="0">
                <a:solidFill>
                  <a:srgbClr val="FFFFFF"/>
                </a:solidFill>
                <a:latin typeface="Aptos"/>
              </a:defRPr>
            </a:pPr>
            <a:r>
              <a:t>Changing category definitions</a:t>
            </a:r>
          </a:p>
          <a:p>
            <a:pPr>
              <a:spcAft>
                <a:spcPts val="700"/>
              </a:spcAft>
              <a:defRPr sz="1800" b="0">
                <a:solidFill>
                  <a:srgbClr val="FFFFFF"/>
                </a:solidFill>
                <a:latin typeface="Aptos"/>
              </a:defRPr>
            </a:pPr>
            <a:r>
              <a:t>Independent model updates</a:t>
            </a:r>
          </a:p>
          <a:p>
            <a:pPr>
              <a:spcAft>
                <a:spcPts val="700"/>
              </a:spcAft>
              <a:defRPr sz="1800" b="0">
                <a:solidFill>
                  <a:srgbClr val="FFFFFF"/>
                </a:solidFill>
                <a:latin typeface="Aptos"/>
              </a:defRPr>
            </a:pPr>
            <a:r>
              <a:t>Fallback for uncertain routes</a:t>
            </a:r>
          </a:p>
        </p:txBody>
      </p:sp>
      <p:sp>
        <p:nvSpPr>
          <p:cNvPr id="12" name="Rounded Rectangle 11"/>
          <p:cNvSpPr/>
          <p:nvPr/>
        </p:nvSpPr>
        <p:spPr>
          <a:xfrm>
            <a:off x="4526280" y="2578608"/>
            <a:ext cx="2048256" cy="1609344"/>
          </a:xfrm>
          <a:prstGeom prst="round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672584" y="2761488"/>
            <a:ext cx="1755648" cy="347472"/>
          </a:xfrm>
          <a:prstGeom prst="rect">
            <a:avLst/>
          </a:prstGeom>
          <a:noFill/>
        </p:spPr>
        <p:txBody>
          <a:bodyPr wrap="square" lIns="0" tIns="0" rIns="0" bIns="0">
            <a:spAutoFit/>
          </a:bodyPr>
          <a:lstStyle/>
          <a:p>
            <a:pPr>
              <a:spcAft>
                <a:spcPts val="700"/>
              </a:spcAft>
              <a:defRPr sz="1700" b="1">
                <a:solidFill>
                  <a:srgbClr val="007F82"/>
                </a:solidFill>
                <a:latin typeface="Aptos"/>
              </a:defRPr>
            </a:pPr>
            <a:r>
              <a:t>Request</a:t>
            </a:r>
          </a:p>
        </p:txBody>
      </p:sp>
      <p:sp>
        <p:nvSpPr>
          <p:cNvPr id="14" name="TextBox 13"/>
          <p:cNvSpPr txBox="1"/>
          <p:nvPr/>
        </p:nvSpPr>
        <p:spPr>
          <a:xfrm>
            <a:off x="4672584" y="3255264"/>
            <a:ext cx="1755648" cy="731520"/>
          </a:xfrm>
          <a:prstGeom prst="rect">
            <a:avLst/>
          </a:prstGeom>
          <a:noFill/>
        </p:spPr>
        <p:txBody>
          <a:bodyPr wrap="square" lIns="0" tIns="0" rIns="0" bIns="0">
            <a:spAutoFit/>
          </a:bodyPr>
          <a:lstStyle/>
          <a:p>
            <a:pPr>
              <a:spcAft>
                <a:spcPts val="700"/>
              </a:spcAft>
              <a:defRPr sz="1600" b="0">
                <a:solidFill>
                  <a:srgbClr val="19364D"/>
                </a:solidFill>
                <a:latin typeface="Aptos"/>
              </a:defRPr>
            </a:pPr>
            <a:r>
              <a:t>Team ID</a:t>
            </a:r>
          </a:p>
          <a:p>
            <a:pPr>
              <a:spcAft>
                <a:spcPts val="700"/>
              </a:spcAft>
              <a:defRPr sz="1600" b="0">
                <a:solidFill>
                  <a:srgbClr val="19364D"/>
                </a:solidFill>
                <a:latin typeface="Aptos"/>
              </a:defRPr>
            </a:pPr>
            <a:r>
              <a:t>+ request text</a:t>
            </a:r>
          </a:p>
        </p:txBody>
      </p:sp>
      <p:sp>
        <p:nvSpPr>
          <p:cNvPr id="15" name="Rounded Rectangle 14"/>
          <p:cNvSpPr/>
          <p:nvPr/>
        </p:nvSpPr>
        <p:spPr>
          <a:xfrm>
            <a:off x="6995160" y="2578608"/>
            <a:ext cx="2048256" cy="1609344"/>
          </a:xfrm>
          <a:prstGeom prst="round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141464" y="2761488"/>
            <a:ext cx="1755648" cy="347472"/>
          </a:xfrm>
          <a:prstGeom prst="rect">
            <a:avLst/>
          </a:prstGeom>
          <a:noFill/>
        </p:spPr>
        <p:txBody>
          <a:bodyPr wrap="square" lIns="0" tIns="0" rIns="0" bIns="0">
            <a:spAutoFit/>
          </a:bodyPr>
          <a:lstStyle/>
          <a:p>
            <a:pPr>
              <a:spcAft>
                <a:spcPts val="700"/>
              </a:spcAft>
              <a:defRPr sz="1700" b="1">
                <a:solidFill>
                  <a:srgbClr val="007F82"/>
                </a:solidFill>
                <a:latin typeface="Aptos"/>
              </a:defRPr>
            </a:pPr>
            <a:r>
              <a:t>Shared encoder</a:t>
            </a:r>
          </a:p>
        </p:txBody>
      </p:sp>
      <p:sp>
        <p:nvSpPr>
          <p:cNvPr id="17" name="TextBox 16"/>
          <p:cNvSpPr txBox="1"/>
          <p:nvPr/>
        </p:nvSpPr>
        <p:spPr>
          <a:xfrm>
            <a:off x="7141464" y="3255264"/>
            <a:ext cx="1755648" cy="731520"/>
          </a:xfrm>
          <a:prstGeom prst="rect">
            <a:avLst/>
          </a:prstGeom>
          <a:noFill/>
        </p:spPr>
        <p:txBody>
          <a:bodyPr wrap="square" lIns="0" tIns="0" rIns="0" bIns="0">
            <a:spAutoFit/>
          </a:bodyPr>
          <a:lstStyle/>
          <a:p>
            <a:pPr>
              <a:spcAft>
                <a:spcPts val="700"/>
              </a:spcAft>
              <a:defRPr sz="1600" b="0">
                <a:solidFill>
                  <a:srgbClr val="19364D"/>
                </a:solidFill>
                <a:latin typeface="Aptos"/>
              </a:defRPr>
            </a:pPr>
            <a:r>
              <a:t>Frozen</a:t>
            </a:r>
          </a:p>
          <a:p>
            <a:pPr>
              <a:spcAft>
                <a:spcPts val="700"/>
              </a:spcAft>
              <a:defRPr sz="1600" b="0">
                <a:solidFill>
                  <a:srgbClr val="19364D"/>
                </a:solidFill>
                <a:latin typeface="Aptos"/>
              </a:defRPr>
            </a:pPr>
            <a:r>
              <a:t>Qwen3-8B</a:t>
            </a:r>
          </a:p>
        </p:txBody>
      </p:sp>
      <p:sp>
        <p:nvSpPr>
          <p:cNvPr id="18" name="Rounded Rectangle 17"/>
          <p:cNvSpPr/>
          <p:nvPr/>
        </p:nvSpPr>
        <p:spPr>
          <a:xfrm>
            <a:off x="9464040" y="2578608"/>
            <a:ext cx="2148840" cy="1609344"/>
          </a:xfrm>
          <a:prstGeom prst="round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610344" y="2761488"/>
            <a:ext cx="1856232" cy="347472"/>
          </a:xfrm>
          <a:prstGeom prst="rect">
            <a:avLst/>
          </a:prstGeom>
          <a:noFill/>
        </p:spPr>
        <p:txBody>
          <a:bodyPr wrap="square" lIns="0" tIns="0" rIns="0" bIns="0">
            <a:spAutoFit/>
          </a:bodyPr>
          <a:lstStyle/>
          <a:p>
            <a:pPr>
              <a:spcAft>
                <a:spcPts val="700"/>
              </a:spcAft>
              <a:defRPr sz="1700" b="1">
                <a:solidFill>
                  <a:srgbClr val="007F82"/>
                </a:solidFill>
                <a:latin typeface="Aptos"/>
              </a:defRPr>
            </a:pPr>
            <a:r>
              <a:t>Team head</a:t>
            </a:r>
          </a:p>
        </p:txBody>
      </p:sp>
      <p:sp>
        <p:nvSpPr>
          <p:cNvPr id="20" name="TextBox 19"/>
          <p:cNvSpPr txBox="1"/>
          <p:nvPr/>
        </p:nvSpPr>
        <p:spPr>
          <a:xfrm>
            <a:off x="9610344" y="3255264"/>
            <a:ext cx="1856232" cy="731520"/>
          </a:xfrm>
          <a:prstGeom prst="rect">
            <a:avLst/>
          </a:prstGeom>
          <a:noFill/>
        </p:spPr>
        <p:txBody>
          <a:bodyPr wrap="square" lIns="0" tIns="0" rIns="0" bIns="0">
            <a:spAutoFit/>
          </a:bodyPr>
          <a:lstStyle/>
          <a:p>
            <a:pPr>
              <a:spcAft>
                <a:spcPts val="700"/>
              </a:spcAft>
              <a:defRPr sz="1600" b="0">
                <a:solidFill>
                  <a:srgbClr val="19364D"/>
                </a:solidFill>
                <a:latin typeface="Aptos"/>
              </a:defRPr>
            </a:pPr>
            <a:r>
              <a:t>~75 MB checkpoint</a:t>
            </a:r>
          </a:p>
          <a:p>
            <a:pPr>
              <a:spcAft>
                <a:spcPts val="700"/>
              </a:spcAft>
              <a:defRPr sz="1600" b="0">
                <a:solidFill>
                  <a:srgbClr val="19364D"/>
                </a:solidFill>
                <a:latin typeface="Aptos"/>
              </a:defRPr>
            </a:pPr>
            <a:r>
              <a:t>+ Choice taxonomy</a:t>
            </a:r>
          </a:p>
        </p:txBody>
      </p:sp>
      <p:sp>
        <p:nvSpPr>
          <p:cNvPr id="21" name="TextBox 20"/>
          <p:cNvSpPr txBox="1"/>
          <p:nvPr/>
        </p:nvSpPr>
        <p:spPr>
          <a:xfrm>
            <a:off x="6629400" y="3145536"/>
            <a:ext cx="274320" cy="365760"/>
          </a:xfrm>
          <a:prstGeom prst="rect">
            <a:avLst/>
          </a:prstGeom>
          <a:noFill/>
        </p:spPr>
        <p:txBody>
          <a:bodyPr wrap="square" lIns="0" tIns="0" rIns="0" bIns="0">
            <a:spAutoFit/>
          </a:bodyPr>
          <a:lstStyle/>
          <a:p>
            <a:pPr>
              <a:spcAft>
                <a:spcPts val="700"/>
              </a:spcAft>
              <a:defRPr sz="2200" b="1">
                <a:solidFill>
                  <a:srgbClr val="007F82"/>
                </a:solidFill>
                <a:latin typeface="Aptos"/>
              </a:defRPr>
            </a:pPr>
            <a:r>
              <a:t>&gt;</a:t>
            </a:r>
          </a:p>
        </p:txBody>
      </p:sp>
      <p:sp>
        <p:nvSpPr>
          <p:cNvPr id="22" name="TextBox 21"/>
          <p:cNvSpPr txBox="1"/>
          <p:nvPr/>
        </p:nvSpPr>
        <p:spPr>
          <a:xfrm>
            <a:off x="9098280" y="3145536"/>
            <a:ext cx="274320" cy="365760"/>
          </a:xfrm>
          <a:prstGeom prst="rect">
            <a:avLst/>
          </a:prstGeom>
          <a:noFill/>
        </p:spPr>
        <p:txBody>
          <a:bodyPr wrap="square" lIns="0" tIns="0" rIns="0" bIns="0">
            <a:spAutoFit/>
          </a:bodyPr>
          <a:lstStyle/>
          <a:p>
            <a:pPr>
              <a:spcAft>
                <a:spcPts val="700"/>
              </a:spcAft>
              <a:defRPr sz="2200" b="1">
                <a:solidFill>
                  <a:srgbClr val="007F82"/>
                </a:solidFill>
                <a:latin typeface="Aptos"/>
              </a:defRPr>
            </a:pPr>
            <a:r>
              <a:t>&gt;</a:t>
            </a:r>
          </a:p>
        </p:txBody>
      </p:sp>
      <p:sp>
        <p:nvSpPr>
          <p:cNvPr id="23" name="TextBox 22"/>
          <p:cNvSpPr txBox="1"/>
          <p:nvPr/>
        </p:nvSpPr>
        <p:spPr>
          <a:xfrm>
            <a:off x="4572000" y="4526280"/>
            <a:ext cx="6858000" cy="868680"/>
          </a:xfrm>
          <a:prstGeom prst="rect">
            <a:avLst/>
          </a:prstGeom>
          <a:noFill/>
        </p:spPr>
        <p:txBody>
          <a:bodyPr wrap="square" lIns="0" tIns="0" rIns="0" bIns="0">
            <a:spAutoFit/>
          </a:bodyPr>
          <a:lstStyle/>
          <a:p>
            <a:pPr>
              <a:spcAft>
                <a:spcPts val="700"/>
              </a:spcAft>
              <a:defRPr sz="1800" b="0">
                <a:solidFill>
                  <a:srgbClr val="19364D"/>
                </a:solidFill>
                <a:latin typeface="Aptos"/>
              </a:defRPr>
            </a:pPr>
            <a:r>
              <a:t>CLM scores candidate actions; it does not generate text.</a:t>
            </a:r>
          </a:p>
          <a:p>
            <a:pPr>
              <a:spcAft>
                <a:spcPts val="700"/>
              </a:spcAft>
              <a:defRPr sz="1800" b="0">
                <a:solidFill>
                  <a:srgbClr val="19364D"/>
                </a:solidFill>
                <a:latin typeface="Aptos"/>
              </a:defRPr>
            </a:pPr>
            <a:r>
              <a:t>A confidence gate sends uncertain routes to a fallback.</a:t>
            </a:r>
          </a:p>
        </p:txBody>
      </p:sp>
      <p:sp>
        <p:nvSpPr>
          <p:cNvPr id="24" name="Rounded Rectangle 23"/>
          <p:cNvSpPr/>
          <p:nvPr/>
        </p:nvSpPr>
        <p:spPr>
          <a:xfrm>
            <a:off x="548640" y="5705856"/>
            <a:ext cx="11064240" cy="512064"/>
          </a:xfrm>
          <a:prstGeom prst="roundRect">
            <a:avLst/>
          </a:prstGeom>
          <a:solidFill>
            <a:srgbClr val="DD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49808" y="5815584"/>
            <a:ext cx="10652760" cy="292608"/>
          </a:xfrm>
          <a:prstGeom prst="rect">
            <a:avLst/>
          </a:prstGeom>
          <a:noFill/>
        </p:spPr>
        <p:txBody>
          <a:bodyPr wrap="square" lIns="0" tIns="0" rIns="0" bIns="0">
            <a:spAutoFit/>
          </a:bodyPr>
          <a:lstStyle/>
          <a:p>
            <a:pPr>
              <a:spcAft>
                <a:spcPts val="700"/>
              </a:spcAft>
              <a:defRPr sz="1800" b="1">
                <a:solidFill>
                  <a:srgbClr val="007F82"/>
                </a:solidFill>
                <a:latin typeface="Aptos"/>
              </a:defRPr>
            </a:pPr>
            <a:r>
              <a:t>Strategy: measure zero-shot first; train only the team head when quality falls short.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1CD1A3F-C263-D211-A399-8885DB632764}"/>
              </a:ext>
            </a:extLst>
          </p:cNvPr>
          <p:cNvPicPr>
            <a:picLocks noChangeAspect="1"/>
          </p:cNvPicPr>
          <p:nvPr/>
        </p:nvPicPr>
        <p:blipFill>
          <a:blip r:embed="rId2"/>
          <a:stretch>
            <a:fillRect/>
          </a:stretch>
        </p:blipFill>
        <p:spPr>
          <a:xfrm>
            <a:off x="457200" y="1763712"/>
            <a:ext cx="9525000" cy="4733925"/>
          </a:xfrm>
          <a:prstGeom prst="rect">
            <a:avLst/>
          </a:prstGeom>
        </p:spPr>
      </p:pic>
      <p:sp>
        <p:nvSpPr>
          <p:cNvPr id="4" name="Title 3">
            <a:extLst>
              <a:ext uri="{FF2B5EF4-FFF2-40B4-BE49-F238E27FC236}">
                <a16:creationId xmlns:a16="http://schemas.microsoft.com/office/drawing/2014/main" id="{3315E8FB-C14C-1F66-A4EA-93BEA91246A6}"/>
              </a:ext>
            </a:extLst>
          </p:cNvPr>
          <p:cNvSpPr>
            <a:spLocks noGrp="1"/>
          </p:cNvSpPr>
          <p:nvPr>
            <p:ph type="title"/>
          </p:nvPr>
        </p:nvSpPr>
        <p:spPr/>
        <p:txBody>
          <a:bodyPr/>
          <a:lstStyle/>
          <a:p>
            <a:r>
              <a:rPr lang="en-US" dirty="0"/>
              <a:t>Contrastive Language Models </a:t>
            </a:r>
          </a:p>
        </p:txBody>
      </p:sp>
      <p:sp>
        <p:nvSpPr>
          <p:cNvPr id="5" name="Content Placeholder 4">
            <a:extLst>
              <a:ext uri="{FF2B5EF4-FFF2-40B4-BE49-F238E27FC236}">
                <a16:creationId xmlns:a16="http://schemas.microsoft.com/office/drawing/2014/main" id="{5B87DB0D-E9F7-8F60-D09F-92045CE01F5F}"/>
              </a:ext>
            </a:extLst>
          </p:cNvPr>
          <p:cNvSpPr>
            <a:spLocks noGrp="1"/>
          </p:cNvSpPr>
          <p:nvPr>
            <p:ph idx="1"/>
          </p:nvPr>
        </p:nvSpPr>
        <p:spPr>
          <a:xfrm>
            <a:off x="457200" y="1600200"/>
            <a:ext cx="9709150" cy="5060950"/>
          </a:xfrm>
        </p:spPr>
        <p:txBody>
          <a:bodyPr>
            <a:normAutofit/>
          </a:bodyPr>
          <a:lstStyle/>
          <a:p>
            <a:r>
              <a:rPr lang="en-US" sz="1400" dirty="0"/>
              <a:t>Source: https://contrastive-lm.notion.site/</a:t>
            </a:r>
          </a:p>
        </p:txBody>
      </p:sp>
    </p:spTree>
    <p:extLst>
      <p:ext uri="{BB962C8B-B14F-4D97-AF65-F5344CB8AC3E}">
        <p14:creationId xmlns:p14="http://schemas.microsoft.com/office/powerpoint/2010/main" val="3646982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698480" cy="274320"/>
          </a:xfrm>
          <a:prstGeom prst="rect">
            <a:avLst/>
          </a:prstGeom>
          <a:noFill/>
        </p:spPr>
        <p:txBody>
          <a:bodyPr wrap="square" lIns="0" tIns="0" rIns="0" bIns="0">
            <a:spAutoFit/>
          </a:bodyPr>
          <a:lstStyle/>
          <a:p>
            <a:pPr>
              <a:spcAft>
                <a:spcPts val="700"/>
              </a:spcAft>
              <a:defRPr sz="1100" b="1">
                <a:solidFill>
                  <a:srgbClr val="007F82"/>
                </a:solidFill>
                <a:latin typeface="Aptos"/>
              </a:defRPr>
            </a:pPr>
            <a:r>
              <a:t>CLM / EMAIL ROUTING     EXPERIMENT DESIGN</a:t>
            </a:r>
          </a:p>
        </p:txBody>
      </p:sp>
      <p:sp>
        <p:nvSpPr>
          <p:cNvPr id="4" name="TextBox 3"/>
          <p:cNvSpPr txBox="1"/>
          <p:nvPr/>
        </p:nvSpPr>
        <p:spPr>
          <a:xfrm>
            <a:off x="548640" y="768096"/>
            <a:ext cx="11064240" cy="594360"/>
          </a:xfrm>
          <a:prstGeom prst="rect">
            <a:avLst/>
          </a:prstGeom>
          <a:noFill/>
        </p:spPr>
        <p:txBody>
          <a:bodyPr wrap="square" lIns="0" tIns="0" rIns="0" bIns="0">
            <a:spAutoFit/>
          </a:bodyPr>
          <a:lstStyle/>
          <a:p>
            <a:pPr>
              <a:spcAft>
                <a:spcPts val="700"/>
              </a:spcAft>
              <a:defRPr sz="3000" b="1">
                <a:solidFill>
                  <a:srgbClr val="102A43"/>
                </a:solidFill>
                <a:latin typeface="Aptos"/>
              </a:defRPr>
            </a:pPr>
            <a:r>
              <a:t>A controlled test of head-only adaptation</a:t>
            </a:r>
          </a:p>
        </p:txBody>
      </p:sp>
      <p:sp>
        <p:nvSpPr>
          <p:cNvPr id="5" name="TextBox 4"/>
          <p:cNvSpPr txBox="1"/>
          <p:nvPr/>
        </p:nvSpPr>
        <p:spPr>
          <a:xfrm>
            <a:off x="548640" y="1444752"/>
            <a:ext cx="10972800" cy="502920"/>
          </a:xfrm>
          <a:prstGeom prst="rect">
            <a:avLst/>
          </a:prstGeom>
          <a:noFill/>
        </p:spPr>
        <p:txBody>
          <a:bodyPr wrap="square" lIns="0" tIns="0" rIns="0" bIns="0">
            <a:spAutoFit/>
          </a:bodyPr>
          <a:lstStyle/>
          <a:p>
            <a:pPr>
              <a:spcAft>
                <a:spcPts val="700"/>
              </a:spcAft>
              <a:defRPr sz="1600" b="0">
                <a:solidFill>
                  <a:srgbClr val="526779"/>
                </a:solidFill>
                <a:latin typeface="Aptos"/>
              </a:defRPr>
            </a:pPr>
            <a:r>
              <a:t>One synthetic email taxonomy; a real CLM server; the encoder and request contract stay fixed.</a:t>
            </a:r>
          </a:p>
        </p:txBody>
      </p:sp>
      <p:sp>
        <p:nvSpPr>
          <p:cNvPr id="6" name="Rectangle 5"/>
          <p:cNvSpPr/>
          <p:nvPr/>
        </p:nvSpPr>
        <p:spPr>
          <a:xfrm>
            <a:off x="548640" y="6446520"/>
            <a:ext cx="11064240" cy="10972"/>
          </a:xfrm>
          <a:prstGeom prst="rect">
            <a:avLst/>
          </a:prstGeom>
          <a:solidFill>
            <a:srgbClr val="D9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6565392"/>
            <a:ext cx="10515600" cy="182880"/>
          </a:xfrm>
          <a:prstGeom prst="rect">
            <a:avLst/>
          </a:prstGeom>
          <a:noFill/>
        </p:spPr>
        <p:txBody>
          <a:bodyPr wrap="square" lIns="0" tIns="0" rIns="0" bIns="0">
            <a:spAutoFit/>
          </a:bodyPr>
          <a:lstStyle/>
          <a:p>
            <a:pPr>
              <a:spcAft>
                <a:spcPts val="700"/>
              </a:spcAft>
              <a:defRPr sz="900" b="0">
                <a:solidFill>
                  <a:srgbClr val="526779"/>
                </a:solidFill>
                <a:latin typeface="Aptos"/>
              </a:defRPr>
            </a:pPr>
            <a:r>
              <a:t>Sources: experiment.md; clm_email_classification_evaluation.ipynb | Saved results, not rerun</a:t>
            </a:r>
          </a:p>
        </p:txBody>
      </p:sp>
      <p:sp>
        <p:nvSpPr>
          <p:cNvPr id="8" name="TextBox 7"/>
          <p:cNvSpPr txBox="1"/>
          <p:nvPr/>
        </p:nvSpPr>
        <p:spPr>
          <a:xfrm>
            <a:off x="11064240" y="6528816"/>
            <a:ext cx="548640" cy="219456"/>
          </a:xfrm>
          <a:prstGeom prst="rect">
            <a:avLst/>
          </a:prstGeom>
          <a:noFill/>
        </p:spPr>
        <p:txBody>
          <a:bodyPr wrap="square" lIns="0" tIns="0" rIns="0" bIns="0">
            <a:spAutoFit/>
          </a:bodyPr>
          <a:lstStyle/>
          <a:p>
            <a:pPr>
              <a:spcAft>
                <a:spcPts val="700"/>
              </a:spcAft>
              <a:defRPr sz="1000" b="0">
                <a:solidFill>
                  <a:srgbClr val="526779"/>
                </a:solidFill>
                <a:latin typeface="Aptos"/>
              </a:defRPr>
            </a:pPr>
            <a:r>
              <a:t>2 / 4</a:t>
            </a:r>
          </a:p>
        </p:txBody>
      </p:sp>
      <p:sp>
        <p:nvSpPr>
          <p:cNvPr id="9" name="Rounded Rectangle 8"/>
          <p:cNvSpPr/>
          <p:nvPr/>
        </p:nvSpPr>
        <p:spPr>
          <a:xfrm>
            <a:off x="548640" y="2139696"/>
            <a:ext cx="3529584" cy="1627632"/>
          </a:xfrm>
          <a:prstGeom prst="round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31520" y="2304288"/>
            <a:ext cx="3108960" cy="219456"/>
          </a:xfrm>
          <a:prstGeom prst="rect">
            <a:avLst/>
          </a:prstGeom>
          <a:noFill/>
        </p:spPr>
        <p:txBody>
          <a:bodyPr wrap="square" lIns="0" tIns="0" rIns="0" bIns="0">
            <a:spAutoFit/>
          </a:bodyPr>
          <a:lstStyle/>
          <a:p>
            <a:pPr>
              <a:spcAft>
                <a:spcPts val="700"/>
              </a:spcAft>
              <a:defRPr sz="1200" b="1">
                <a:solidFill>
                  <a:srgbClr val="007F82"/>
                </a:solidFill>
                <a:latin typeface="Aptos"/>
              </a:defRPr>
            </a:pPr>
            <a:r>
              <a:t>FIT</a:t>
            </a:r>
          </a:p>
        </p:txBody>
      </p:sp>
      <p:sp>
        <p:nvSpPr>
          <p:cNvPr id="11" name="TextBox 10"/>
          <p:cNvSpPr txBox="1"/>
          <p:nvPr/>
        </p:nvSpPr>
        <p:spPr>
          <a:xfrm>
            <a:off x="731520" y="2642616"/>
            <a:ext cx="1554480" cy="548640"/>
          </a:xfrm>
          <a:prstGeom prst="rect">
            <a:avLst/>
          </a:prstGeom>
          <a:noFill/>
        </p:spPr>
        <p:txBody>
          <a:bodyPr wrap="square" lIns="0" tIns="0" rIns="0" bIns="0">
            <a:spAutoFit/>
          </a:bodyPr>
          <a:lstStyle/>
          <a:p>
            <a:pPr>
              <a:spcAft>
                <a:spcPts val="700"/>
              </a:spcAft>
              <a:defRPr sz="3100" b="1">
                <a:solidFill>
                  <a:srgbClr val="102A43"/>
                </a:solidFill>
                <a:latin typeface="Aptos"/>
              </a:defRPr>
            </a:pPr>
            <a:r>
              <a:t>8,624</a:t>
            </a:r>
          </a:p>
        </p:txBody>
      </p:sp>
      <p:sp>
        <p:nvSpPr>
          <p:cNvPr id="12" name="TextBox 11"/>
          <p:cNvSpPr txBox="1"/>
          <p:nvPr/>
        </p:nvSpPr>
        <p:spPr>
          <a:xfrm>
            <a:off x="2212848" y="2734056"/>
            <a:ext cx="1682496" cy="859536"/>
          </a:xfrm>
          <a:prstGeom prst="rect">
            <a:avLst/>
          </a:prstGeom>
          <a:noFill/>
        </p:spPr>
        <p:txBody>
          <a:bodyPr wrap="square" lIns="0" tIns="0" rIns="0" bIns="0">
            <a:spAutoFit/>
          </a:bodyPr>
          <a:lstStyle/>
          <a:p>
            <a:pPr>
              <a:spcAft>
                <a:spcPts val="700"/>
              </a:spcAft>
              <a:defRPr sz="1300" b="0">
                <a:solidFill>
                  <a:srgbClr val="19364D"/>
                </a:solidFill>
                <a:latin typeface="Aptos"/>
              </a:defRPr>
            </a:pPr>
            <a:r>
              <a:t>Trainer holds out 10%</a:t>
            </a:r>
          </a:p>
          <a:p>
            <a:pPr>
              <a:spcAft>
                <a:spcPts val="700"/>
              </a:spcAft>
              <a:defRPr sz="1300" b="0">
                <a:solidFill>
                  <a:srgbClr val="19364D"/>
                </a:solidFill>
                <a:latin typeface="Aptos"/>
              </a:defRPr>
            </a:pPr>
            <a:r>
              <a:t>for internal validation</a:t>
            </a:r>
          </a:p>
        </p:txBody>
      </p:sp>
      <p:sp>
        <p:nvSpPr>
          <p:cNvPr id="13" name="Rounded Rectangle 12"/>
          <p:cNvSpPr/>
          <p:nvPr/>
        </p:nvSpPr>
        <p:spPr>
          <a:xfrm>
            <a:off x="4315968" y="2139696"/>
            <a:ext cx="3529584" cy="1627632"/>
          </a:xfrm>
          <a:prstGeom prst="round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498848" y="2304288"/>
            <a:ext cx="3108960" cy="219456"/>
          </a:xfrm>
          <a:prstGeom prst="rect">
            <a:avLst/>
          </a:prstGeom>
          <a:noFill/>
        </p:spPr>
        <p:txBody>
          <a:bodyPr wrap="square" lIns="0" tIns="0" rIns="0" bIns="0">
            <a:spAutoFit/>
          </a:bodyPr>
          <a:lstStyle/>
          <a:p>
            <a:pPr>
              <a:spcAft>
                <a:spcPts val="700"/>
              </a:spcAft>
              <a:defRPr sz="1200" b="1">
                <a:solidFill>
                  <a:srgbClr val="007F82"/>
                </a:solidFill>
                <a:latin typeface="Aptos"/>
              </a:defRPr>
            </a:pPr>
            <a:r>
              <a:t>DEVELOPMENT</a:t>
            </a:r>
          </a:p>
        </p:txBody>
      </p:sp>
      <p:sp>
        <p:nvSpPr>
          <p:cNvPr id="15" name="TextBox 14"/>
          <p:cNvSpPr txBox="1"/>
          <p:nvPr/>
        </p:nvSpPr>
        <p:spPr>
          <a:xfrm>
            <a:off x="4498848" y="2642616"/>
            <a:ext cx="1554480" cy="548640"/>
          </a:xfrm>
          <a:prstGeom prst="rect">
            <a:avLst/>
          </a:prstGeom>
          <a:noFill/>
        </p:spPr>
        <p:txBody>
          <a:bodyPr wrap="square" lIns="0" tIns="0" rIns="0" bIns="0">
            <a:spAutoFit/>
          </a:bodyPr>
          <a:lstStyle/>
          <a:p>
            <a:pPr>
              <a:spcAft>
                <a:spcPts val="700"/>
              </a:spcAft>
              <a:defRPr sz="3100" b="1">
                <a:solidFill>
                  <a:srgbClr val="102A43"/>
                </a:solidFill>
                <a:latin typeface="Aptos"/>
              </a:defRPr>
            </a:pPr>
            <a:r>
              <a:t>2,156</a:t>
            </a:r>
          </a:p>
        </p:txBody>
      </p:sp>
      <p:sp>
        <p:nvSpPr>
          <p:cNvPr id="16" name="TextBox 15"/>
          <p:cNvSpPr txBox="1"/>
          <p:nvPr/>
        </p:nvSpPr>
        <p:spPr>
          <a:xfrm>
            <a:off x="5980176" y="2734056"/>
            <a:ext cx="1682496" cy="859536"/>
          </a:xfrm>
          <a:prstGeom prst="rect">
            <a:avLst/>
          </a:prstGeom>
          <a:noFill/>
        </p:spPr>
        <p:txBody>
          <a:bodyPr wrap="square" lIns="0" tIns="0" rIns="0" bIns="0">
            <a:spAutoFit/>
          </a:bodyPr>
          <a:lstStyle/>
          <a:p>
            <a:pPr>
              <a:spcAft>
                <a:spcPts val="700"/>
              </a:spcAft>
              <a:defRPr sz="1300" b="0">
                <a:solidFill>
                  <a:srgbClr val="19364D"/>
                </a:solidFill>
                <a:latin typeface="Aptos"/>
              </a:defRPr>
            </a:pPr>
            <a:r>
              <a:t>Training-derived holdout;</a:t>
            </a:r>
          </a:p>
          <a:p>
            <a:pPr>
              <a:spcAft>
                <a:spcPts val="700"/>
              </a:spcAft>
              <a:defRPr sz="1300" b="0">
                <a:solidFill>
                  <a:srgbClr val="19364D"/>
                </a:solidFill>
                <a:latin typeface="Aptos"/>
              </a:defRPr>
            </a:pPr>
            <a:r>
              <a:t>three seeds checked here</a:t>
            </a:r>
          </a:p>
        </p:txBody>
      </p:sp>
      <p:sp>
        <p:nvSpPr>
          <p:cNvPr id="17" name="Rounded Rectangle 16"/>
          <p:cNvSpPr/>
          <p:nvPr/>
        </p:nvSpPr>
        <p:spPr>
          <a:xfrm>
            <a:off x="8083296" y="2139696"/>
            <a:ext cx="3529584" cy="1627632"/>
          </a:xfrm>
          <a:prstGeom prst="round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66175" y="2304288"/>
            <a:ext cx="3108960" cy="219456"/>
          </a:xfrm>
          <a:prstGeom prst="rect">
            <a:avLst/>
          </a:prstGeom>
          <a:noFill/>
        </p:spPr>
        <p:txBody>
          <a:bodyPr wrap="square" lIns="0" tIns="0" rIns="0" bIns="0">
            <a:spAutoFit/>
          </a:bodyPr>
          <a:lstStyle/>
          <a:p>
            <a:pPr>
              <a:spcAft>
                <a:spcPts val="700"/>
              </a:spcAft>
              <a:defRPr sz="1200" b="1">
                <a:solidFill>
                  <a:srgbClr val="007F82"/>
                </a:solidFill>
                <a:latin typeface="Aptos"/>
              </a:defRPr>
            </a:pPr>
            <a:r>
              <a:t>PUBLISHED TEST</a:t>
            </a:r>
          </a:p>
        </p:txBody>
      </p:sp>
      <p:sp>
        <p:nvSpPr>
          <p:cNvPr id="19" name="TextBox 18"/>
          <p:cNvSpPr txBox="1"/>
          <p:nvPr/>
        </p:nvSpPr>
        <p:spPr>
          <a:xfrm>
            <a:off x="8266175" y="2642616"/>
            <a:ext cx="1554480" cy="548640"/>
          </a:xfrm>
          <a:prstGeom prst="rect">
            <a:avLst/>
          </a:prstGeom>
          <a:noFill/>
        </p:spPr>
        <p:txBody>
          <a:bodyPr wrap="square" lIns="0" tIns="0" rIns="0" bIns="0">
            <a:spAutoFit/>
          </a:bodyPr>
          <a:lstStyle/>
          <a:p>
            <a:pPr>
              <a:spcAft>
                <a:spcPts val="700"/>
              </a:spcAft>
              <a:defRPr sz="3100" b="1">
                <a:solidFill>
                  <a:srgbClr val="102A43"/>
                </a:solidFill>
                <a:latin typeface="Aptos"/>
              </a:defRPr>
            </a:pPr>
            <a:r>
              <a:t>2,697</a:t>
            </a:r>
          </a:p>
        </p:txBody>
      </p:sp>
      <p:sp>
        <p:nvSpPr>
          <p:cNvPr id="20" name="TextBox 19"/>
          <p:cNvSpPr txBox="1"/>
          <p:nvPr/>
        </p:nvSpPr>
        <p:spPr>
          <a:xfrm>
            <a:off x="9747504" y="2734056"/>
            <a:ext cx="1682496" cy="859536"/>
          </a:xfrm>
          <a:prstGeom prst="rect">
            <a:avLst/>
          </a:prstGeom>
          <a:noFill/>
        </p:spPr>
        <p:txBody>
          <a:bodyPr wrap="square" lIns="0" tIns="0" rIns="0" bIns="0">
            <a:spAutoFit/>
          </a:bodyPr>
          <a:lstStyle/>
          <a:p>
            <a:pPr>
              <a:spcAft>
                <a:spcPts val="700"/>
              </a:spcAft>
              <a:defRPr sz="1300" b="0">
                <a:solidFill>
                  <a:srgbClr val="19364D"/>
                </a:solidFill>
                <a:latin typeface="Aptos"/>
              </a:defRPr>
            </a:pPr>
            <a:r>
              <a:t>Same emails before / after;</a:t>
            </a:r>
          </a:p>
          <a:p>
            <a:pPr>
              <a:spcAft>
                <a:spcPts val="700"/>
              </a:spcAft>
              <a:defRPr sz="1300" b="0">
                <a:solidFill>
                  <a:srgbClr val="19364D"/>
                </a:solidFill>
                <a:latin typeface="Aptos"/>
              </a:defRPr>
            </a:pPr>
            <a:r>
              <a:t>final checkpoint = seed 42</a:t>
            </a:r>
          </a:p>
        </p:txBody>
      </p:sp>
      <p:sp>
        <p:nvSpPr>
          <p:cNvPr id="21" name="TextBox 20"/>
          <p:cNvSpPr txBox="1"/>
          <p:nvPr/>
        </p:nvSpPr>
        <p:spPr>
          <a:xfrm>
            <a:off x="594360" y="4069080"/>
            <a:ext cx="5303520" cy="310896"/>
          </a:xfrm>
          <a:prstGeom prst="rect">
            <a:avLst/>
          </a:prstGeom>
          <a:noFill/>
        </p:spPr>
        <p:txBody>
          <a:bodyPr wrap="square" lIns="0" tIns="0" rIns="0" bIns="0">
            <a:spAutoFit/>
          </a:bodyPr>
          <a:lstStyle/>
          <a:p>
            <a:pPr>
              <a:spcAft>
                <a:spcPts val="700"/>
              </a:spcAft>
              <a:defRPr sz="1300" b="1">
                <a:solidFill>
                  <a:srgbClr val="007F82"/>
                </a:solidFill>
                <a:latin typeface="Aptos"/>
              </a:defRPr>
            </a:pPr>
            <a:r>
              <a:t>WHAT CHANGES</a:t>
            </a:r>
          </a:p>
        </p:txBody>
      </p:sp>
      <p:sp>
        <p:nvSpPr>
          <p:cNvPr id="22" name="TextBox 21"/>
          <p:cNvSpPr txBox="1"/>
          <p:nvPr/>
        </p:nvSpPr>
        <p:spPr>
          <a:xfrm>
            <a:off x="594360" y="4535424"/>
            <a:ext cx="5166360" cy="1010533"/>
          </a:xfrm>
          <a:prstGeom prst="rect">
            <a:avLst/>
          </a:prstGeom>
          <a:noFill/>
        </p:spPr>
        <p:txBody>
          <a:bodyPr wrap="square" lIns="0" tIns="0" rIns="0" bIns="0">
            <a:spAutoFit/>
          </a:bodyPr>
          <a:lstStyle/>
          <a:p>
            <a:pPr>
              <a:spcAft>
                <a:spcPts val="700"/>
              </a:spcAft>
              <a:defRPr sz="1800" b="0">
                <a:solidFill>
                  <a:srgbClr val="19364D"/>
                </a:solidFill>
                <a:latin typeface="Aptos"/>
              </a:defRPr>
            </a:pPr>
            <a:r>
              <a:rPr dirty="0"/>
              <a:t>Released CLM head  </a:t>
            </a:r>
            <a:r>
              <a:rPr lang="en-US" dirty="0"/>
              <a:t>&amp;</a:t>
            </a:r>
            <a:r>
              <a:rPr dirty="0"/>
              <a:t>  email-specific head</a:t>
            </a:r>
          </a:p>
          <a:p>
            <a:pPr>
              <a:spcAft>
                <a:spcPts val="700"/>
              </a:spcAft>
              <a:defRPr sz="1800" b="0">
                <a:solidFill>
                  <a:srgbClr val="19364D"/>
                </a:solidFill>
                <a:latin typeface="Aptos"/>
              </a:defRPr>
            </a:pPr>
            <a:r>
              <a:rPr dirty="0"/>
              <a:t>Warm start + supervised soft cross-entropy</a:t>
            </a:r>
          </a:p>
          <a:p>
            <a:pPr>
              <a:spcAft>
                <a:spcPts val="700"/>
              </a:spcAft>
              <a:defRPr sz="1800" b="0">
                <a:solidFill>
                  <a:srgbClr val="19364D"/>
                </a:solidFill>
                <a:latin typeface="Aptos"/>
              </a:defRPr>
            </a:pPr>
            <a:r>
              <a:rPr dirty="0"/>
              <a:t>Best validation checkpoint; early stopping</a:t>
            </a:r>
          </a:p>
        </p:txBody>
      </p:sp>
      <p:sp>
        <p:nvSpPr>
          <p:cNvPr id="23" name="TextBox 22"/>
          <p:cNvSpPr txBox="1"/>
          <p:nvPr/>
        </p:nvSpPr>
        <p:spPr>
          <a:xfrm>
            <a:off x="6263640" y="4069080"/>
            <a:ext cx="5303520" cy="310896"/>
          </a:xfrm>
          <a:prstGeom prst="rect">
            <a:avLst/>
          </a:prstGeom>
          <a:noFill/>
        </p:spPr>
        <p:txBody>
          <a:bodyPr wrap="square" lIns="0" tIns="0" rIns="0" bIns="0">
            <a:spAutoFit/>
          </a:bodyPr>
          <a:lstStyle/>
          <a:p>
            <a:pPr>
              <a:spcAft>
                <a:spcPts val="700"/>
              </a:spcAft>
              <a:defRPr sz="1300" b="1">
                <a:solidFill>
                  <a:srgbClr val="007F82"/>
                </a:solidFill>
                <a:latin typeface="Aptos"/>
              </a:defRPr>
            </a:pPr>
            <a:r>
              <a:t>WHAT STAYS FIXED</a:t>
            </a:r>
          </a:p>
        </p:txBody>
      </p:sp>
      <p:sp>
        <p:nvSpPr>
          <p:cNvPr id="24" name="TextBox 23"/>
          <p:cNvSpPr txBox="1"/>
          <p:nvPr/>
        </p:nvSpPr>
        <p:spPr>
          <a:xfrm>
            <a:off x="6263640" y="4535424"/>
            <a:ext cx="5212080" cy="1188720"/>
          </a:xfrm>
          <a:prstGeom prst="rect">
            <a:avLst/>
          </a:prstGeom>
          <a:noFill/>
        </p:spPr>
        <p:txBody>
          <a:bodyPr wrap="square" lIns="0" tIns="0" rIns="0" bIns="0">
            <a:spAutoFit/>
          </a:bodyPr>
          <a:lstStyle/>
          <a:p>
            <a:pPr>
              <a:spcAft>
                <a:spcPts val="700"/>
              </a:spcAft>
              <a:defRPr sz="1800" b="0">
                <a:solidFill>
                  <a:srgbClr val="19364D"/>
                </a:solidFill>
                <a:latin typeface="Aptos"/>
              </a:defRPr>
            </a:pPr>
            <a:r>
              <a:t>Frozen Qwen3-8B; subject + body state</a:t>
            </a:r>
          </a:p>
          <a:p>
            <a:pPr>
              <a:spcAft>
                <a:spcPts val="700"/>
              </a:spcAft>
              <a:defRPr sz="1800" b="0">
                <a:solidFill>
                  <a:srgbClr val="19364D"/>
                </a:solidFill>
                <a:latin typeface="Aptos"/>
              </a:defRPr>
            </a:pPr>
            <a:r>
              <a:t>Same six options and descriptions</a:t>
            </a:r>
          </a:p>
          <a:p>
            <a:pPr>
              <a:spcAft>
                <a:spcPts val="700"/>
              </a:spcAft>
              <a:defRPr sz="1800" b="0">
                <a:solidFill>
                  <a:srgbClr val="19364D"/>
                </a:solidFill>
                <a:latin typeface="Aptos"/>
              </a:defRPr>
            </a:pPr>
            <a:r>
              <a:t>Same test IDs; temperature = 1.0</a:t>
            </a:r>
          </a:p>
        </p:txBody>
      </p:sp>
      <p:sp>
        <p:nvSpPr>
          <p:cNvPr id="25" name="Rounded Rectangle 24"/>
          <p:cNvSpPr/>
          <p:nvPr/>
        </p:nvSpPr>
        <p:spPr>
          <a:xfrm>
            <a:off x="548640" y="5751576"/>
            <a:ext cx="11064240" cy="466344"/>
          </a:xfrm>
          <a:prstGeom prst="roundRect">
            <a:avLst/>
          </a:prstGeom>
          <a:solidFill>
            <a:srgbClr val="DD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49808" y="5852160"/>
            <a:ext cx="10698480" cy="274320"/>
          </a:xfrm>
          <a:prstGeom prst="rect">
            <a:avLst/>
          </a:prstGeom>
          <a:noFill/>
        </p:spPr>
        <p:txBody>
          <a:bodyPr wrap="square" lIns="0" tIns="0" rIns="0" bIns="0">
            <a:spAutoFit/>
          </a:bodyPr>
          <a:lstStyle/>
          <a:p>
            <a:pPr>
              <a:spcAft>
                <a:spcPts val="700"/>
              </a:spcAft>
              <a:defRPr sz="1600" b="1">
                <a:solidFill>
                  <a:srgbClr val="007F82"/>
                </a:solidFill>
                <a:latin typeface="Aptos"/>
              </a:defRPr>
            </a:pPr>
            <a:r>
              <a:t>Labels: forum | promotions | social_media | spam | updates | verify_code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698480" cy="274320"/>
          </a:xfrm>
          <a:prstGeom prst="rect">
            <a:avLst/>
          </a:prstGeom>
          <a:noFill/>
        </p:spPr>
        <p:txBody>
          <a:bodyPr wrap="square" lIns="0" tIns="0" rIns="0" bIns="0">
            <a:spAutoFit/>
          </a:bodyPr>
          <a:lstStyle/>
          <a:p>
            <a:pPr>
              <a:spcAft>
                <a:spcPts val="700"/>
              </a:spcAft>
              <a:defRPr sz="1100" b="1">
                <a:solidFill>
                  <a:srgbClr val="007F82"/>
                </a:solidFill>
                <a:latin typeface="Aptos"/>
              </a:defRPr>
            </a:pPr>
            <a:r>
              <a:t>CLM / EMAIL ROUTING     MEASURED FINDINGS</a:t>
            </a:r>
          </a:p>
        </p:txBody>
      </p:sp>
      <p:sp>
        <p:nvSpPr>
          <p:cNvPr id="4" name="TextBox 3"/>
          <p:cNvSpPr txBox="1"/>
          <p:nvPr/>
        </p:nvSpPr>
        <p:spPr>
          <a:xfrm>
            <a:off x="548640" y="768096"/>
            <a:ext cx="11064240" cy="594360"/>
          </a:xfrm>
          <a:prstGeom prst="rect">
            <a:avLst/>
          </a:prstGeom>
          <a:noFill/>
        </p:spPr>
        <p:txBody>
          <a:bodyPr wrap="square" lIns="0" tIns="0" rIns="0" bIns="0">
            <a:spAutoFit/>
          </a:bodyPr>
          <a:lstStyle/>
          <a:p>
            <a:pPr>
              <a:spcAft>
                <a:spcPts val="700"/>
              </a:spcAft>
              <a:defRPr sz="3000" b="1">
                <a:solidFill>
                  <a:srgbClr val="102A43"/>
                </a:solidFill>
                <a:latin typeface="Aptos"/>
              </a:defRPr>
            </a:pPr>
            <a:r>
              <a:t>Head fine-tuning resolves the zero-shot class collapse</a:t>
            </a:r>
          </a:p>
        </p:txBody>
      </p:sp>
      <p:sp>
        <p:nvSpPr>
          <p:cNvPr id="5" name="TextBox 4"/>
          <p:cNvSpPr txBox="1"/>
          <p:nvPr/>
        </p:nvSpPr>
        <p:spPr>
          <a:xfrm>
            <a:off x="548640" y="1444752"/>
            <a:ext cx="10972800" cy="502920"/>
          </a:xfrm>
          <a:prstGeom prst="rect">
            <a:avLst/>
          </a:prstGeom>
          <a:noFill/>
        </p:spPr>
        <p:txBody>
          <a:bodyPr wrap="square" lIns="0" tIns="0" rIns="0" bIns="0">
            <a:spAutoFit/>
          </a:bodyPr>
          <a:lstStyle/>
          <a:p>
            <a:pPr>
              <a:spcAft>
                <a:spcPts val="700"/>
              </a:spcAft>
              <a:defRPr sz="1600" b="0">
                <a:solidFill>
                  <a:srgbClr val="526779"/>
                </a:solidFill>
                <a:latin typeface="Aptos"/>
              </a:defRPr>
            </a:pPr>
            <a:r>
              <a:t>Matched comparison on all 2,697 published-test emails at temperature 1.0.</a:t>
            </a:r>
          </a:p>
        </p:txBody>
      </p:sp>
      <p:sp>
        <p:nvSpPr>
          <p:cNvPr id="6" name="Rectangle 5"/>
          <p:cNvSpPr/>
          <p:nvPr/>
        </p:nvSpPr>
        <p:spPr>
          <a:xfrm>
            <a:off x="548640" y="6446520"/>
            <a:ext cx="11064240" cy="10972"/>
          </a:xfrm>
          <a:prstGeom prst="rect">
            <a:avLst/>
          </a:prstGeom>
          <a:solidFill>
            <a:srgbClr val="D9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6565392"/>
            <a:ext cx="10515600" cy="182880"/>
          </a:xfrm>
          <a:prstGeom prst="rect">
            <a:avLst/>
          </a:prstGeom>
          <a:noFill/>
        </p:spPr>
        <p:txBody>
          <a:bodyPr wrap="square" lIns="0" tIns="0" rIns="0" bIns="0">
            <a:spAutoFit/>
          </a:bodyPr>
          <a:lstStyle/>
          <a:p>
            <a:pPr>
              <a:spcAft>
                <a:spcPts val="700"/>
              </a:spcAft>
              <a:defRPr sz="900" b="0">
                <a:solidFill>
                  <a:srgbClr val="526779"/>
                </a:solidFill>
                <a:latin typeface="Aptos"/>
              </a:defRPr>
            </a:pPr>
            <a:r>
              <a:t>Sources: experiment.md; clm_email_classification_evaluation.ipynb | Saved results, not rerun</a:t>
            </a:r>
          </a:p>
        </p:txBody>
      </p:sp>
      <p:sp>
        <p:nvSpPr>
          <p:cNvPr id="8" name="TextBox 7"/>
          <p:cNvSpPr txBox="1"/>
          <p:nvPr/>
        </p:nvSpPr>
        <p:spPr>
          <a:xfrm>
            <a:off x="11064240" y="6528816"/>
            <a:ext cx="548640" cy="219456"/>
          </a:xfrm>
          <a:prstGeom prst="rect">
            <a:avLst/>
          </a:prstGeom>
          <a:noFill/>
        </p:spPr>
        <p:txBody>
          <a:bodyPr wrap="square" lIns="0" tIns="0" rIns="0" bIns="0">
            <a:spAutoFit/>
          </a:bodyPr>
          <a:lstStyle/>
          <a:p>
            <a:pPr>
              <a:spcAft>
                <a:spcPts val="700"/>
              </a:spcAft>
              <a:defRPr sz="1000" b="0">
                <a:solidFill>
                  <a:srgbClr val="526779"/>
                </a:solidFill>
                <a:latin typeface="Aptos"/>
              </a:defRPr>
            </a:pPr>
            <a:r>
              <a:t>3 / 4</a:t>
            </a:r>
          </a:p>
        </p:txBody>
      </p:sp>
      <p:sp>
        <p:nvSpPr>
          <p:cNvPr id="9" name="Rounded Rectangle 8"/>
          <p:cNvSpPr/>
          <p:nvPr/>
        </p:nvSpPr>
        <p:spPr>
          <a:xfrm>
            <a:off x="548640" y="2103120"/>
            <a:ext cx="5504688" cy="3218688"/>
          </a:xfrm>
          <a:prstGeom prst="round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86384" y="2313432"/>
            <a:ext cx="4983480" cy="274320"/>
          </a:xfrm>
          <a:prstGeom prst="rect">
            <a:avLst/>
          </a:prstGeom>
          <a:noFill/>
        </p:spPr>
        <p:txBody>
          <a:bodyPr wrap="square" lIns="0" tIns="0" rIns="0" bIns="0">
            <a:spAutoFit/>
          </a:bodyPr>
          <a:lstStyle/>
          <a:p>
            <a:pPr>
              <a:spcAft>
                <a:spcPts val="700"/>
              </a:spcAft>
              <a:defRPr sz="1300" b="1">
                <a:solidFill>
                  <a:srgbClr val="526779"/>
                </a:solidFill>
                <a:latin typeface="Aptos"/>
              </a:defRPr>
            </a:pPr>
            <a:r>
              <a:t>TOP-1 ACCURACY</a:t>
            </a:r>
          </a:p>
        </p:txBody>
      </p:sp>
      <p:sp>
        <p:nvSpPr>
          <p:cNvPr id="11" name="TextBox 10"/>
          <p:cNvSpPr txBox="1"/>
          <p:nvPr/>
        </p:nvSpPr>
        <p:spPr>
          <a:xfrm>
            <a:off x="804672" y="2871216"/>
            <a:ext cx="1645920" cy="274320"/>
          </a:xfrm>
          <a:prstGeom prst="rect">
            <a:avLst/>
          </a:prstGeom>
          <a:noFill/>
        </p:spPr>
        <p:txBody>
          <a:bodyPr wrap="square" lIns="0" tIns="0" rIns="0" bIns="0">
            <a:spAutoFit/>
          </a:bodyPr>
          <a:lstStyle/>
          <a:p>
            <a:pPr>
              <a:spcAft>
                <a:spcPts val="700"/>
              </a:spcAft>
              <a:defRPr sz="1600" b="1">
                <a:solidFill>
                  <a:srgbClr val="19364D"/>
                </a:solidFill>
                <a:latin typeface="Aptos"/>
              </a:defRPr>
            </a:pPr>
            <a:r>
              <a:t>Zero-shot</a:t>
            </a:r>
          </a:p>
        </p:txBody>
      </p:sp>
      <p:sp>
        <p:nvSpPr>
          <p:cNvPr id="12" name="Rectangle 11"/>
          <p:cNvSpPr/>
          <p:nvPr/>
        </p:nvSpPr>
        <p:spPr>
          <a:xfrm>
            <a:off x="2331720" y="2926080"/>
            <a:ext cx="2450592" cy="356616"/>
          </a:xfrm>
          <a:prstGeom prst="rect">
            <a:avLst/>
          </a:prstGeom>
          <a:solidFill>
            <a:srgbClr val="D9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331720" y="2926080"/>
            <a:ext cx="658760" cy="356616"/>
          </a:xfrm>
          <a:prstGeom prst="rect">
            <a:avLst/>
          </a:prstGeom>
          <a:solidFill>
            <a:srgbClr val="C653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919472" y="2880360"/>
            <a:ext cx="987552" cy="365760"/>
          </a:xfrm>
          <a:prstGeom prst="rect">
            <a:avLst/>
          </a:prstGeom>
          <a:noFill/>
        </p:spPr>
        <p:txBody>
          <a:bodyPr wrap="square" lIns="0" tIns="0" rIns="0" bIns="0">
            <a:spAutoFit/>
          </a:bodyPr>
          <a:lstStyle/>
          <a:p>
            <a:pPr>
              <a:spcAft>
                <a:spcPts val="700"/>
              </a:spcAft>
              <a:defRPr sz="1700" b="1">
                <a:solidFill>
                  <a:srgbClr val="C6533D"/>
                </a:solidFill>
                <a:latin typeface="Aptos"/>
              </a:defRPr>
            </a:pPr>
            <a:r>
              <a:t>26.88%</a:t>
            </a:r>
          </a:p>
        </p:txBody>
      </p:sp>
      <p:sp>
        <p:nvSpPr>
          <p:cNvPr id="15" name="TextBox 14"/>
          <p:cNvSpPr txBox="1"/>
          <p:nvPr/>
        </p:nvSpPr>
        <p:spPr>
          <a:xfrm>
            <a:off x="804672" y="3803904"/>
            <a:ext cx="1645920" cy="274320"/>
          </a:xfrm>
          <a:prstGeom prst="rect">
            <a:avLst/>
          </a:prstGeom>
          <a:noFill/>
        </p:spPr>
        <p:txBody>
          <a:bodyPr wrap="square" lIns="0" tIns="0" rIns="0" bIns="0">
            <a:spAutoFit/>
          </a:bodyPr>
          <a:lstStyle/>
          <a:p>
            <a:pPr>
              <a:spcAft>
                <a:spcPts val="700"/>
              </a:spcAft>
              <a:defRPr sz="1600" b="1">
                <a:solidFill>
                  <a:srgbClr val="19364D"/>
                </a:solidFill>
                <a:latin typeface="Aptos"/>
              </a:defRPr>
            </a:pPr>
            <a:r>
              <a:t>Fine-tuned</a:t>
            </a:r>
          </a:p>
        </p:txBody>
      </p:sp>
      <p:sp>
        <p:nvSpPr>
          <p:cNvPr id="16" name="Rectangle 15"/>
          <p:cNvSpPr/>
          <p:nvPr/>
        </p:nvSpPr>
        <p:spPr>
          <a:xfrm>
            <a:off x="2331720" y="3858768"/>
            <a:ext cx="2450592" cy="356616"/>
          </a:xfrm>
          <a:prstGeom prst="rect">
            <a:avLst/>
          </a:prstGeom>
          <a:solidFill>
            <a:srgbClr val="D9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2331720" y="3858768"/>
            <a:ext cx="2391530" cy="356616"/>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919472" y="3813048"/>
            <a:ext cx="987552" cy="365760"/>
          </a:xfrm>
          <a:prstGeom prst="rect">
            <a:avLst/>
          </a:prstGeom>
          <a:noFill/>
        </p:spPr>
        <p:txBody>
          <a:bodyPr wrap="square" lIns="0" tIns="0" rIns="0" bIns="0">
            <a:spAutoFit/>
          </a:bodyPr>
          <a:lstStyle/>
          <a:p>
            <a:pPr>
              <a:spcAft>
                <a:spcPts val="700"/>
              </a:spcAft>
              <a:defRPr sz="1700" b="1">
                <a:solidFill>
                  <a:srgbClr val="007F82"/>
                </a:solidFill>
                <a:latin typeface="Aptos"/>
              </a:defRPr>
            </a:pPr>
            <a:r>
              <a:t>97.59%</a:t>
            </a:r>
          </a:p>
        </p:txBody>
      </p:sp>
      <p:sp>
        <p:nvSpPr>
          <p:cNvPr id="19" name="TextBox 18"/>
          <p:cNvSpPr txBox="1"/>
          <p:nvPr/>
        </p:nvSpPr>
        <p:spPr>
          <a:xfrm>
            <a:off x="804672" y="4626864"/>
            <a:ext cx="4937760" cy="411480"/>
          </a:xfrm>
          <a:prstGeom prst="rect">
            <a:avLst/>
          </a:prstGeom>
          <a:noFill/>
        </p:spPr>
        <p:txBody>
          <a:bodyPr wrap="square" lIns="0" tIns="0" rIns="0" bIns="0">
            <a:spAutoFit/>
          </a:bodyPr>
          <a:lstStyle/>
          <a:p>
            <a:pPr>
              <a:spcAft>
                <a:spcPts val="700"/>
              </a:spcAft>
              <a:defRPr sz="2400" b="1">
                <a:solidFill>
                  <a:srgbClr val="007F82"/>
                </a:solidFill>
                <a:latin typeface="Aptos"/>
              </a:defRPr>
            </a:pPr>
            <a:r>
              <a:t>+70.71 percentage points</a:t>
            </a:r>
          </a:p>
        </p:txBody>
      </p:sp>
      <p:sp>
        <p:nvSpPr>
          <p:cNvPr id="20" name="TextBox 19"/>
          <p:cNvSpPr txBox="1"/>
          <p:nvPr/>
        </p:nvSpPr>
        <p:spPr>
          <a:xfrm>
            <a:off x="804672" y="5038344"/>
            <a:ext cx="4937760" cy="219456"/>
          </a:xfrm>
          <a:prstGeom prst="rect">
            <a:avLst/>
          </a:prstGeom>
          <a:noFill/>
        </p:spPr>
        <p:txBody>
          <a:bodyPr wrap="square" lIns="0" tIns="0" rIns="0" bIns="0">
            <a:spAutoFit/>
          </a:bodyPr>
          <a:lstStyle/>
          <a:p>
            <a:pPr>
              <a:spcAft>
                <a:spcPts val="700"/>
              </a:spcAft>
              <a:defRPr sz="1200" b="0">
                <a:solidFill>
                  <a:srgbClr val="526779"/>
                </a:solidFill>
                <a:latin typeface="Aptos"/>
              </a:defRPr>
            </a:pPr>
            <a:r>
              <a:t>95% paired bootstrap interval: +69.78 to +71.60 pp</a:t>
            </a:r>
          </a:p>
        </p:txBody>
      </p:sp>
      <p:sp>
        <p:nvSpPr>
          <p:cNvPr id="21" name="TextBox 20"/>
          <p:cNvSpPr txBox="1"/>
          <p:nvPr/>
        </p:nvSpPr>
        <p:spPr>
          <a:xfrm>
            <a:off x="6400800" y="2221992"/>
            <a:ext cx="5120640" cy="274320"/>
          </a:xfrm>
          <a:prstGeom prst="rect">
            <a:avLst/>
          </a:prstGeom>
          <a:noFill/>
        </p:spPr>
        <p:txBody>
          <a:bodyPr wrap="square" lIns="0" tIns="0" rIns="0" bIns="0">
            <a:spAutoFit/>
          </a:bodyPr>
          <a:lstStyle/>
          <a:p>
            <a:pPr>
              <a:spcAft>
                <a:spcPts val="700"/>
              </a:spcAft>
              <a:defRPr sz="1300" b="1">
                <a:solidFill>
                  <a:srgbClr val="007F82"/>
                </a:solidFill>
                <a:latin typeface="Aptos"/>
              </a:defRPr>
            </a:pPr>
            <a:r>
              <a:t>QUALITY BEYOND ACCURACY</a:t>
            </a:r>
          </a:p>
        </p:txBody>
      </p:sp>
      <p:sp>
        <p:nvSpPr>
          <p:cNvPr id="22" name="TextBox 21"/>
          <p:cNvSpPr txBox="1"/>
          <p:nvPr/>
        </p:nvSpPr>
        <p:spPr>
          <a:xfrm>
            <a:off x="9162288" y="2706624"/>
            <a:ext cx="1143000" cy="228600"/>
          </a:xfrm>
          <a:prstGeom prst="rect">
            <a:avLst/>
          </a:prstGeom>
          <a:noFill/>
        </p:spPr>
        <p:txBody>
          <a:bodyPr wrap="square" lIns="0" tIns="0" rIns="0" bIns="0">
            <a:spAutoFit/>
          </a:bodyPr>
          <a:lstStyle/>
          <a:p>
            <a:pPr>
              <a:spcAft>
                <a:spcPts val="700"/>
              </a:spcAft>
              <a:defRPr sz="1200" b="1">
                <a:solidFill>
                  <a:srgbClr val="C6533D"/>
                </a:solidFill>
                <a:latin typeface="Aptos"/>
              </a:defRPr>
            </a:pPr>
            <a:r>
              <a:t>Zero-shot</a:t>
            </a:r>
          </a:p>
        </p:txBody>
      </p:sp>
      <p:sp>
        <p:nvSpPr>
          <p:cNvPr id="23" name="TextBox 22"/>
          <p:cNvSpPr txBox="1"/>
          <p:nvPr/>
        </p:nvSpPr>
        <p:spPr>
          <a:xfrm>
            <a:off x="10515600" y="2706624"/>
            <a:ext cx="1097280" cy="228600"/>
          </a:xfrm>
          <a:prstGeom prst="rect">
            <a:avLst/>
          </a:prstGeom>
          <a:noFill/>
        </p:spPr>
        <p:txBody>
          <a:bodyPr wrap="square" lIns="0" tIns="0" rIns="0" bIns="0">
            <a:spAutoFit/>
          </a:bodyPr>
          <a:lstStyle/>
          <a:p>
            <a:pPr>
              <a:spcAft>
                <a:spcPts val="700"/>
              </a:spcAft>
              <a:defRPr sz="1200" b="1">
                <a:solidFill>
                  <a:srgbClr val="007F82"/>
                </a:solidFill>
                <a:latin typeface="Aptos"/>
              </a:defRPr>
            </a:pPr>
            <a:r>
              <a:t>Tuned</a:t>
            </a:r>
          </a:p>
        </p:txBody>
      </p:sp>
      <p:sp>
        <p:nvSpPr>
          <p:cNvPr id="24" name="TextBox 23"/>
          <p:cNvSpPr txBox="1"/>
          <p:nvPr/>
        </p:nvSpPr>
        <p:spPr>
          <a:xfrm>
            <a:off x="6400800" y="3127248"/>
            <a:ext cx="2834640" cy="274320"/>
          </a:xfrm>
          <a:prstGeom prst="rect">
            <a:avLst/>
          </a:prstGeom>
          <a:noFill/>
        </p:spPr>
        <p:txBody>
          <a:bodyPr wrap="square" lIns="0" tIns="0" rIns="0" bIns="0">
            <a:spAutoFit/>
          </a:bodyPr>
          <a:lstStyle/>
          <a:p>
            <a:pPr>
              <a:spcAft>
                <a:spcPts val="700"/>
              </a:spcAft>
              <a:defRPr sz="1400" b="0">
                <a:solidFill>
                  <a:srgbClr val="19364D"/>
                </a:solidFill>
                <a:latin typeface="Aptos"/>
              </a:defRPr>
            </a:pPr>
            <a:r>
              <a:t>Macro F1</a:t>
            </a:r>
          </a:p>
        </p:txBody>
      </p:sp>
      <p:sp>
        <p:nvSpPr>
          <p:cNvPr id="25" name="TextBox 24"/>
          <p:cNvSpPr txBox="1"/>
          <p:nvPr/>
        </p:nvSpPr>
        <p:spPr>
          <a:xfrm>
            <a:off x="9208008" y="3127248"/>
            <a:ext cx="1097280" cy="274320"/>
          </a:xfrm>
          <a:prstGeom prst="rect">
            <a:avLst/>
          </a:prstGeom>
          <a:noFill/>
        </p:spPr>
        <p:txBody>
          <a:bodyPr wrap="square" lIns="0" tIns="0" rIns="0" bIns="0">
            <a:spAutoFit/>
          </a:bodyPr>
          <a:lstStyle/>
          <a:p>
            <a:pPr>
              <a:spcAft>
                <a:spcPts val="700"/>
              </a:spcAft>
              <a:defRPr sz="1500" b="0">
                <a:solidFill>
                  <a:srgbClr val="526779"/>
                </a:solidFill>
                <a:latin typeface="Aptos"/>
              </a:defRPr>
            </a:pPr>
            <a:r>
              <a:t>0.1399</a:t>
            </a:r>
          </a:p>
        </p:txBody>
      </p:sp>
      <p:sp>
        <p:nvSpPr>
          <p:cNvPr id="26" name="TextBox 25"/>
          <p:cNvSpPr txBox="1"/>
          <p:nvPr/>
        </p:nvSpPr>
        <p:spPr>
          <a:xfrm>
            <a:off x="10515600" y="3127248"/>
            <a:ext cx="1051560" cy="274320"/>
          </a:xfrm>
          <a:prstGeom prst="rect">
            <a:avLst/>
          </a:prstGeom>
          <a:noFill/>
        </p:spPr>
        <p:txBody>
          <a:bodyPr wrap="square" lIns="0" tIns="0" rIns="0" bIns="0">
            <a:spAutoFit/>
          </a:bodyPr>
          <a:lstStyle/>
          <a:p>
            <a:pPr>
              <a:spcAft>
                <a:spcPts val="700"/>
              </a:spcAft>
              <a:defRPr sz="1500" b="1">
                <a:solidFill>
                  <a:srgbClr val="007F82"/>
                </a:solidFill>
                <a:latin typeface="Aptos"/>
              </a:defRPr>
            </a:pPr>
            <a:r>
              <a:t>0.9759</a:t>
            </a:r>
          </a:p>
        </p:txBody>
      </p:sp>
      <p:sp>
        <p:nvSpPr>
          <p:cNvPr id="27" name="TextBox 26"/>
          <p:cNvSpPr txBox="1"/>
          <p:nvPr/>
        </p:nvSpPr>
        <p:spPr>
          <a:xfrm>
            <a:off x="6400800" y="3566160"/>
            <a:ext cx="2834640" cy="274320"/>
          </a:xfrm>
          <a:prstGeom prst="rect">
            <a:avLst/>
          </a:prstGeom>
          <a:noFill/>
        </p:spPr>
        <p:txBody>
          <a:bodyPr wrap="square" lIns="0" tIns="0" rIns="0" bIns="0">
            <a:spAutoFit/>
          </a:bodyPr>
          <a:lstStyle/>
          <a:p>
            <a:pPr>
              <a:spcAft>
                <a:spcPts val="700"/>
              </a:spcAft>
              <a:defRPr sz="1400" b="0">
                <a:solidFill>
                  <a:srgbClr val="19364D"/>
                </a:solidFill>
                <a:latin typeface="Aptos"/>
              </a:defRPr>
            </a:pPr>
            <a:r>
              <a:t>Top-2 accuracy</a:t>
            </a:r>
          </a:p>
        </p:txBody>
      </p:sp>
      <p:sp>
        <p:nvSpPr>
          <p:cNvPr id="28" name="TextBox 27"/>
          <p:cNvSpPr txBox="1"/>
          <p:nvPr/>
        </p:nvSpPr>
        <p:spPr>
          <a:xfrm>
            <a:off x="9208008" y="3566160"/>
            <a:ext cx="1097280" cy="274320"/>
          </a:xfrm>
          <a:prstGeom prst="rect">
            <a:avLst/>
          </a:prstGeom>
          <a:noFill/>
        </p:spPr>
        <p:txBody>
          <a:bodyPr wrap="square" lIns="0" tIns="0" rIns="0" bIns="0">
            <a:spAutoFit/>
          </a:bodyPr>
          <a:lstStyle/>
          <a:p>
            <a:pPr>
              <a:spcAft>
                <a:spcPts val="700"/>
              </a:spcAft>
              <a:defRPr sz="1500" b="0">
                <a:solidFill>
                  <a:srgbClr val="526779"/>
                </a:solidFill>
                <a:latin typeface="Aptos"/>
              </a:defRPr>
            </a:pPr>
            <a:r>
              <a:t>42.23%</a:t>
            </a:r>
          </a:p>
        </p:txBody>
      </p:sp>
      <p:sp>
        <p:nvSpPr>
          <p:cNvPr id="29" name="TextBox 28"/>
          <p:cNvSpPr txBox="1"/>
          <p:nvPr/>
        </p:nvSpPr>
        <p:spPr>
          <a:xfrm>
            <a:off x="10515600" y="3566160"/>
            <a:ext cx="1051560" cy="274320"/>
          </a:xfrm>
          <a:prstGeom prst="rect">
            <a:avLst/>
          </a:prstGeom>
          <a:noFill/>
        </p:spPr>
        <p:txBody>
          <a:bodyPr wrap="square" lIns="0" tIns="0" rIns="0" bIns="0">
            <a:spAutoFit/>
          </a:bodyPr>
          <a:lstStyle/>
          <a:p>
            <a:pPr>
              <a:spcAft>
                <a:spcPts val="700"/>
              </a:spcAft>
              <a:defRPr sz="1500" b="1">
                <a:solidFill>
                  <a:srgbClr val="007F82"/>
                </a:solidFill>
                <a:latin typeface="Aptos"/>
              </a:defRPr>
            </a:pPr>
            <a:r>
              <a:t>99.67%</a:t>
            </a:r>
          </a:p>
        </p:txBody>
      </p:sp>
      <p:sp>
        <p:nvSpPr>
          <p:cNvPr id="30" name="TextBox 29"/>
          <p:cNvSpPr txBox="1"/>
          <p:nvPr/>
        </p:nvSpPr>
        <p:spPr>
          <a:xfrm>
            <a:off x="6400800" y="4005072"/>
            <a:ext cx="2834640" cy="274320"/>
          </a:xfrm>
          <a:prstGeom prst="rect">
            <a:avLst/>
          </a:prstGeom>
          <a:noFill/>
        </p:spPr>
        <p:txBody>
          <a:bodyPr wrap="square" lIns="0" tIns="0" rIns="0" bIns="0">
            <a:spAutoFit/>
          </a:bodyPr>
          <a:lstStyle/>
          <a:p>
            <a:pPr>
              <a:spcAft>
                <a:spcPts val="700"/>
              </a:spcAft>
              <a:defRPr sz="1400" b="0">
                <a:solidFill>
                  <a:srgbClr val="19364D"/>
                </a:solidFill>
                <a:latin typeface="Aptos"/>
              </a:defRPr>
            </a:pPr>
            <a:r>
              <a:t>Log loss (lower is better)</a:t>
            </a:r>
          </a:p>
        </p:txBody>
      </p:sp>
      <p:sp>
        <p:nvSpPr>
          <p:cNvPr id="31" name="TextBox 30"/>
          <p:cNvSpPr txBox="1"/>
          <p:nvPr/>
        </p:nvSpPr>
        <p:spPr>
          <a:xfrm>
            <a:off x="9208008" y="4005072"/>
            <a:ext cx="1097280" cy="274320"/>
          </a:xfrm>
          <a:prstGeom prst="rect">
            <a:avLst/>
          </a:prstGeom>
          <a:noFill/>
        </p:spPr>
        <p:txBody>
          <a:bodyPr wrap="square" lIns="0" tIns="0" rIns="0" bIns="0">
            <a:spAutoFit/>
          </a:bodyPr>
          <a:lstStyle/>
          <a:p>
            <a:pPr>
              <a:spcAft>
                <a:spcPts val="700"/>
              </a:spcAft>
              <a:defRPr sz="1500" b="0">
                <a:solidFill>
                  <a:srgbClr val="526779"/>
                </a:solidFill>
                <a:latin typeface="Aptos"/>
              </a:defRPr>
            </a:pPr>
            <a:r>
              <a:t>3.2873</a:t>
            </a:r>
          </a:p>
        </p:txBody>
      </p:sp>
      <p:sp>
        <p:nvSpPr>
          <p:cNvPr id="32" name="TextBox 31"/>
          <p:cNvSpPr txBox="1"/>
          <p:nvPr/>
        </p:nvSpPr>
        <p:spPr>
          <a:xfrm>
            <a:off x="10515600" y="4005072"/>
            <a:ext cx="1051560" cy="274320"/>
          </a:xfrm>
          <a:prstGeom prst="rect">
            <a:avLst/>
          </a:prstGeom>
          <a:noFill/>
        </p:spPr>
        <p:txBody>
          <a:bodyPr wrap="square" lIns="0" tIns="0" rIns="0" bIns="0">
            <a:spAutoFit/>
          </a:bodyPr>
          <a:lstStyle/>
          <a:p>
            <a:pPr>
              <a:spcAft>
                <a:spcPts val="700"/>
              </a:spcAft>
              <a:defRPr sz="1500" b="1">
                <a:solidFill>
                  <a:srgbClr val="007F82"/>
                </a:solidFill>
                <a:latin typeface="Aptos"/>
              </a:defRPr>
            </a:pPr>
            <a:r>
              <a:t>0.0707</a:t>
            </a:r>
          </a:p>
        </p:txBody>
      </p:sp>
      <p:sp>
        <p:nvSpPr>
          <p:cNvPr id="33" name="TextBox 32"/>
          <p:cNvSpPr txBox="1"/>
          <p:nvPr/>
        </p:nvSpPr>
        <p:spPr>
          <a:xfrm>
            <a:off x="6400800" y="4443983"/>
            <a:ext cx="2834640" cy="274320"/>
          </a:xfrm>
          <a:prstGeom prst="rect">
            <a:avLst/>
          </a:prstGeom>
          <a:noFill/>
        </p:spPr>
        <p:txBody>
          <a:bodyPr wrap="square" lIns="0" tIns="0" rIns="0" bIns="0">
            <a:spAutoFit/>
          </a:bodyPr>
          <a:lstStyle/>
          <a:p>
            <a:pPr>
              <a:spcAft>
                <a:spcPts val="700"/>
              </a:spcAft>
              <a:defRPr sz="1400" b="0">
                <a:solidFill>
                  <a:srgbClr val="19364D"/>
                </a:solidFill>
                <a:latin typeface="Aptos"/>
              </a:defRPr>
            </a:pPr>
            <a:r>
              <a:t>10-bin ECE (lower is better)</a:t>
            </a:r>
          </a:p>
        </p:txBody>
      </p:sp>
      <p:sp>
        <p:nvSpPr>
          <p:cNvPr id="34" name="TextBox 33"/>
          <p:cNvSpPr txBox="1"/>
          <p:nvPr/>
        </p:nvSpPr>
        <p:spPr>
          <a:xfrm>
            <a:off x="9208008" y="4443983"/>
            <a:ext cx="1097280" cy="274320"/>
          </a:xfrm>
          <a:prstGeom prst="rect">
            <a:avLst/>
          </a:prstGeom>
          <a:noFill/>
        </p:spPr>
        <p:txBody>
          <a:bodyPr wrap="square" lIns="0" tIns="0" rIns="0" bIns="0">
            <a:spAutoFit/>
          </a:bodyPr>
          <a:lstStyle/>
          <a:p>
            <a:pPr>
              <a:spcAft>
                <a:spcPts val="700"/>
              </a:spcAft>
              <a:defRPr sz="1500" b="0">
                <a:solidFill>
                  <a:srgbClr val="526779"/>
                </a:solidFill>
                <a:latin typeface="Aptos"/>
              </a:defRPr>
            </a:pPr>
            <a:r>
              <a:t>0.3406</a:t>
            </a:r>
          </a:p>
        </p:txBody>
      </p:sp>
      <p:sp>
        <p:nvSpPr>
          <p:cNvPr id="35" name="TextBox 34"/>
          <p:cNvSpPr txBox="1"/>
          <p:nvPr/>
        </p:nvSpPr>
        <p:spPr>
          <a:xfrm>
            <a:off x="10515600" y="4443983"/>
            <a:ext cx="1051560" cy="274320"/>
          </a:xfrm>
          <a:prstGeom prst="rect">
            <a:avLst/>
          </a:prstGeom>
          <a:noFill/>
        </p:spPr>
        <p:txBody>
          <a:bodyPr wrap="square" lIns="0" tIns="0" rIns="0" bIns="0">
            <a:spAutoFit/>
          </a:bodyPr>
          <a:lstStyle/>
          <a:p>
            <a:pPr>
              <a:spcAft>
                <a:spcPts val="700"/>
              </a:spcAft>
              <a:defRPr sz="1500" b="1">
                <a:solidFill>
                  <a:srgbClr val="007F82"/>
                </a:solidFill>
                <a:latin typeface="Aptos"/>
              </a:defRPr>
            </a:pPr>
            <a:r>
              <a:t>0.0070</a:t>
            </a:r>
          </a:p>
        </p:txBody>
      </p:sp>
      <p:sp>
        <p:nvSpPr>
          <p:cNvPr id="36" name="TextBox 35"/>
          <p:cNvSpPr txBox="1"/>
          <p:nvPr/>
        </p:nvSpPr>
        <p:spPr>
          <a:xfrm>
            <a:off x="6400800" y="4882896"/>
            <a:ext cx="2834640" cy="274320"/>
          </a:xfrm>
          <a:prstGeom prst="rect">
            <a:avLst/>
          </a:prstGeom>
          <a:noFill/>
        </p:spPr>
        <p:txBody>
          <a:bodyPr wrap="square" lIns="0" tIns="0" rIns="0" bIns="0">
            <a:spAutoFit/>
          </a:bodyPr>
          <a:lstStyle/>
          <a:p>
            <a:pPr>
              <a:spcAft>
                <a:spcPts val="700"/>
              </a:spcAft>
              <a:defRPr sz="1400" b="0">
                <a:solidFill>
                  <a:srgbClr val="19364D"/>
                </a:solidFill>
                <a:latin typeface="Aptos"/>
              </a:defRPr>
            </a:pPr>
            <a:r>
              <a:t>Classes predicted</a:t>
            </a:r>
          </a:p>
        </p:txBody>
      </p:sp>
      <p:sp>
        <p:nvSpPr>
          <p:cNvPr id="37" name="TextBox 36"/>
          <p:cNvSpPr txBox="1"/>
          <p:nvPr/>
        </p:nvSpPr>
        <p:spPr>
          <a:xfrm>
            <a:off x="9208008" y="4882896"/>
            <a:ext cx="1097280" cy="274320"/>
          </a:xfrm>
          <a:prstGeom prst="rect">
            <a:avLst/>
          </a:prstGeom>
          <a:noFill/>
        </p:spPr>
        <p:txBody>
          <a:bodyPr wrap="square" lIns="0" tIns="0" rIns="0" bIns="0">
            <a:spAutoFit/>
          </a:bodyPr>
          <a:lstStyle/>
          <a:p>
            <a:pPr>
              <a:spcAft>
                <a:spcPts val="700"/>
              </a:spcAft>
              <a:defRPr sz="1500" b="0">
                <a:solidFill>
                  <a:srgbClr val="526779"/>
                </a:solidFill>
                <a:latin typeface="Aptos"/>
              </a:defRPr>
            </a:pPr>
            <a:r>
              <a:t>2 / 6</a:t>
            </a:r>
          </a:p>
        </p:txBody>
      </p:sp>
      <p:sp>
        <p:nvSpPr>
          <p:cNvPr id="38" name="TextBox 37"/>
          <p:cNvSpPr txBox="1"/>
          <p:nvPr/>
        </p:nvSpPr>
        <p:spPr>
          <a:xfrm>
            <a:off x="10515600" y="4882896"/>
            <a:ext cx="1051560" cy="274320"/>
          </a:xfrm>
          <a:prstGeom prst="rect">
            <a:avLst/>
          </a:prstGeom>
          <a:noFill/>
        </p:spPr>
        <p:txBody>
          <a:bodyPr wrap="square" lIns="0" tIns="0" rIns="0" bIns="0">
            <a:spAutoFit/>
          </a:bodyPr>
          <a:lstStyle/>
          <a:p>
            <a:pPr>
              <a:spcAft>
                <a:spcPts val="700"/>
              </a:spcAft>
              <a:defRPr sz="1500" b="1">
                <a:solidFill>
                  <a:srgbClr val="007F82"/>
                </a:solidFill>
                <a:latin typeface="Aptos"/>
              </a:defRPr>
            </a:pPr>
            <a:r>
              <a:t>6 / 6</a:t>
            </a:r>
          </a:p>
        </p:txBody>
      </p:sp>
      <p:sp>
        <p:nvSpPr>
          <p:cNvPr id="39" name="Rounded Rectangle 38"/>
          <p:cNvSpPr/>
          <p:nvPr/>
        </p:nvSpPr>
        <p:spPr>
          <a:xfrm>
            <a:off x="548640" y="5596128"/>
            <a:ext cx="11064240" cy="630936"/>
          </a:xfrm>
          <a:prstGeom prst="roundRect">
            <a:avLst/>
          </a:prstGeom>
          <a:solidFill>
            <a:srgbClr val="102A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58952" y="5733288"/>
            <a:ext cx="10607040" cy="365760"/>
          </a:xfrm>
          <a:prstGeom prst="rect">
            <a:avLst/>
          </a:prstGeom>
          <a:noFill/>
        </p:spPr>
        <p:txBody>
          <a:bodyPr wrap="square" lIns="0" tIns="0" rIns="0" bIns="0">
            <a:spAutoFit/>
          </a:bodyPr>
          <a:lstStyle/>
          <a:p>
            <a:pPr>
              <a:spcAft>
                <a:spcPts val="700"/>
              </a:spcAft>
              <a:defRPr sz="2000" b="1">
                <a:solidFill>
                  <a:srgbClr val="FFFFFF"/>
                </a:solidFill>
                <a:latin typeface="Aptos"/>
              </a:defRPr>
            </a:pPr>
            <a:r>
              <a:t>1,915 mistakes corrected; 8 new mistakes. All class recalls &gt;= 95.56%.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46304" cy="6858000"/>
          </a:xfrm>
          <a:prstGeom prst="rect">
            <a:avLst/>
          </a:prstGeom>
          <a:solidFill>
            <a:srgbClr val="007F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256032"/>
            <a:ext cx="10698480" cy="274320"/>
          </a:xfrm>
          <a:prstGeom prst="rect">
            <a:avLst/>
          </a:prstGeom>
          <a:noFill/>
        </p:spPr>
        <p:txBody>
          <a:bodyPr wrap="square" lIns="0" tIns="0" rIns="0" bIns="0">
            <a:spAutoFit/>
          </a:bodyPr>
          <a:lstStyle/>
          <a:p>
            <a:pPr>
              <a:spcAft>
                <a:spcPts val="700"/>
              </a:spcAft>
              <a:defRPr sz="1100" b="1">
                <a:solidFill>
                  <a:srgbClr val="007F82"/>
                </a:solidFill>
                <a:latin typeface="Aptos"/>
              </a:defRPr>
            </a:pPr>
            <a:r>
              <a:t>CLM / EMAIL ROUTING     INTERPRETATION AND NEXT GATE</a:t>
            </a:r>
          </a:p>
        </p:txBody>
      </p:sp>
      <p:sp>
        <p:nvSpPr>
          <p:cNvPr id="4" name="TextBox 3"/>
          <p:cNvSpPr txBox="1"/>
          <p:nvPr/>
        </p:nvSpPr>
        <p:spPr>
          <a:xfrm>
            <a:off x="548640" y="768096"/>
            <a:ext cx="11064240" cy="594360"/>
          </a:xfrm>
          <a:prstGeom prst="rect">
            <a:avLst/>
          </a:prstGeom>
          <a:noFill/>
        </p:spPr>
        <p:txBody>
          <a:bodyPr wrap="square" lIns="0" tIns="0" rIns="0" bIns="0">
            <a:spAutoFit/>
          </a:bodyPr>
          <a:lstStyle/>
          <a:p>
            <a:pPr>
              <a:spcAft>
                <a:spcPts val="700"/>
              </a:spcAft>
              <a:defRPr sz="3000" b="1">
                <a:solidFill>
                  <a:srgbClr val="102A43"/>
                </a:solidFill>
                <a:latin typeface="Aptos"/>
              </a:defRPr>
            </a:pPr>
            <a:r>
              <a:t>Strong benchmark result. Not yet a production claim.</a:t>
            </a:r>
          </a:p>
        </p:txBody>
      </p:sp>
      <p:sp>
        <p:nvSpPr>
          <p:cNvPr id="5" name="TextBox 4"/>
          <p:cNvSpPr txBox="1"/>
          <p:nvPr/>
        </p:nvSpPr>
        <p:spPr>
          <a:xfrm>
            <a:off x="548640" y="1444752"/>
            <a:ext cx="10972800" cy="502920"/>
          </a:xfrm>
          <a:prstGeom prst="rect">
            <a:avLst/>
          </a:prstGeom>
          <a:noFill/>
        </p:spPr>
        <p:txBody>
          <a:bodyPr wrap="square" lIns="0" tIns="0" rIns="0" bIns="0">
            <a:spAutoFit/>
          </a:bodyPr>
          <a:lstStyle/>
          <a:p>
            <a:pPr>
              <a:spcAft>
                <a:spcPts val="700"/>
              </a:spcAft>
              <a:defRPr sz="1600" b="0">
                <a:solidFill>
                  <a:srgbClr val="526779"/>
                </a:solidFill>
                <a:latin typeface="Aptos"/>
              </a:defRPr>
            </a:pPr>
            <a:r>
              <a:t>The evidence supports supervised specialization; generalization and architecture advantage remain open.</a:t>
            </a:r>
          </a:p>
        </p:txBody>
      </p:sp>
      <p:sp>
        <p:nvSpPr>
          <p:cNvPr id="6" name="Rectangle 5"/>
          <p:cNvSpPr/>
          <p:nvPr/>
        </p:nvSpPr>
        <p:spPr>
          <a:xfrm>
            <a:off x="548640" y="6446520"/>
            <a:ext cx="11064240" cy="10972"/>
          </a:xfrm>
          <a:prstGeom prst="rect">
            <a:avLst/>
          </a:prstGeom>
          <a:solidFill>
            <a:srgbClr val="D9E2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48640" y="6565392"/>
            <a:ext cx="10515600" cy="182880"/>
          </a:xfrm>
          <a:prstGeom prst="rect">
            <a:avLst/>
          </a:prstGeom>
          <a:noFill/>
        </p:spPr>
        <p:txBody>
          <a:bodyPr wrap="square" lIns="0" tIns="0" rIns="0" bIns="0">
            <a:spAutoFit/>
          </a:bodyPr>
          <a:lstStyle/>
          <a:p>
            <a:pPr>
              <a:spcAft>
                <a:spcPts val="700"/>
              </a:spcAft>
              <a:defRPr sz="900" b="0">
                <a:solidFill>
                  <a:srgbClr val="526779"/>
                </a:solidFill>
                <a:latin typeface="Aptos"/>
              </a:defRPr>
            </a:pPr>
            <a:r>
              <a:t>Sources: experiment.md; clm_email_classification_evaluation.ipynb | Saved results, not rerun</a:t>
            </a:r>
          </a:p>
        </p:txBody>
      </p:sp>
      <p:sp>
        <p:nvSpPr>
          <p:cNvPr id="8" name="TextBox 7"/>
          <p:cNvSpPr txBox="1"/>
          <p:nvPr/>
        </p:nvSpPr>
        <p:spPr>
          <a:xfrm>
            <a:off x="11064240" y="6528816"/>
            <a:ext cx="548640" cy="219456"/>
          </a:xfrm>
          <a:prstGeom prst="rect">
            <a:avLst/>
          </a:prstGeom>
          <a:noFill/>
        </p:spPr>
        <p:txBody>
          <a:bodyPr wrap="square" lIns="0" tIns="0" rIns="0" bIns="0">
            <a:spAutoFit/>
          </a:bodyPr>
          <a:lstStyle/>
          <a:p>
            <a:pPr>
              <a:spcAft>
                <a:spcPts val="700"/>
              </a:spcAft>
              <a:defRPr sz="1000" b="0">
                <a:solidFill>
                  <a:srgbClr val="526779"/>
                </a:solidFill>
                <a:latin typeface="Aptos"/>
              </a:defRPr>
            </a:pPr>
            <a:r>
              <a:t>4 / 4</a:t>
            </a:r>
          </a:p>
        </p:txBody>
      </p:sp>
      <p:sp>
        <p:nvSpPr>
          <p:cNvPr id="9" name="Rounded Rectangle 8"/>
          <p:cNvSpPr/>
          <p:nvPr/>
        </p:nvSpPr>
        <p:spPr>
          <a:xfrm>
            <a:off x="548640" y="2130552"/>
            <a:ext cx="5394960" cy="3429000"/>
          </a:xfrm>
          <a:prstGeom prst="roundRect">
            <a:avLst/>
          </a:prstGeom>
          <a:solidFill>
            <a:srgbClr val="F3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2350008"/>
            <a:ext cx="4892040" cy="274320"/>
          </a:xfrm>
          <a:prstGeom prst="rect">
            <a:avLst/>
          </a:prstGeom>
          <a:noFill/>
        </p:spPr>
        <p:txBody>
          <a:bodyPr wrap="square" lIns="0" tIns="0" rIns="0" bIns="0">
            <a:spAutoFit/>
          </a:bodyPr>
          <a:lstStyle/>
          <a:p>
            <a:pPr>
              <a:spcAft>
                <a:spcPts val="700"/>
              </a:spcAft>
              <a:defRPr sz="1300" b="1">
                <a:solidFill>
                  <a:srgbClr val="007F82"/>
                </a:solidFill>
                <a:latin typeface="Aptos"/>
              </a:defRPr>
            </a:pPr>
            <a:r>
              <a:t>EVIDENCE THAT HOLDS UP</a:t>
            </a:r>
          </a:p>
        </p:txBody>
      </p:sp>
      <p:sp>
        <p:nvSpPr>
          <p:cNvPr id="11" name="TextBox 10"/>
          <p:cNvSpPr txBox="1"/>
          <p:nvPr/>
        </p:nvSpPr>
        <p:spPr>
          <a:xfrm>
            <a:off x="777240" y="2880360"/>
            <a:ext cx="4892040" cy="292608"/>
          </a:xfrm>
          <a:prstGeom prst="rect">
            <a:avLst/>
          </a:prstGeom>
          <a:noFill/>
        </p:spPr>
        <p:txBody>
          <a:bodyPr wrap="square" lIns="0" tIns="0" rIns="0" bIns="0">
            <a:spAutoFit/>
          </a:bodyPr>
          <a:lstStyle/>
          <a:p>
            <a:pPr>
              <a:spcAft>
                <a:spcPts val="700"/>
              </a:spcAft>
              <a:defRPr sz="1700" b="1">
                <a:solidFill>
                  <a:srgbClr val="19364D"/>
                </a:solidFill>
                <a:latin typeface="Aptos"/>
              </a:defRPr>
            </a:pPr>
            <a:r>
              <a:t>Stable across three seeds</a:t>
            </a:r>
          </a:p>
        </p:txBody>
      </p:sp>
      <p:sp>
        <p:nvSpPr>
          <p:cNvPr id="12" name="TextBox 11"/>
          <p:cNvSpPr txBox="1"/>
          <p:nvPr/>
        </p:nvSpPr>
        <p:spPr>
          <a:xfrm>
            <a:off x="777240" y="3227832"/>
            <a:ext cx="4892040" cy="365760"/>
          </a:xfrm>
          <a:prstGeom prst="rect">
            <a:avLst/>
          </a:prstGeom>
          <a:noFill/>
        </p:spPr>
        <p:txBody>
          <a:bodyPr wrap="square" lIns="0" tIns="0" rIns="0" bIns="0">
            <a:spAutoFit/>
          </a:bodyPr>
          <a:lstStyle/>
          <a:p>
            <a:pPr>
              <a:spcAft>
                <a:spcPts val="700"/>
              </a:spcAft>
              <a:defRPr sz="1400" b="0">
                <a:solidFill>
                  <a:srgbClr val="526779"/>
                </a:solidFill>
                <a:latin typeface="Aptos"/>
              </a:defRPr>
            </a:pPr>
            <a:r>
              <a:t>98.42% mean development accuracy; SD 0.37 pp</a:t>
            </a:r>
          </a:p>
        </p:txBody>
      </p:sp>
      <p:sp>
        <p:nvSpPr>
          <p:cNvPr id="13" name="TextBox 12"/>
          <p:cNvSpPr txBox="1"/>
          <p:nvPr/>
        </p:nvSpPr>
        <p:spPr>
          <a:xfrm>
            <a:off x="777240" y="3703320"/>
            <a:ext cx="4892040" cy="292608"/>
          </a:xfrm>
          <a:prstGeom prst="rect">
            <a:avLst/>
          </a:prstGeom>
          <a:noFill/>
        </p:spPr>
        <p:txBody>
          <a:bodyPr wrap="square" lIns="0" tIns="0" rIns="0" bIns="0">
            <a:spAutoFit/>
          </a:bodyPr>
          <a:lstStyle/>
          <a:p>
            <a:pPr>
              <a:spcAft>
                <a:spcPts val="700"/>
              </a:spcAft>
              <a:defRPr sz="1700" b="1">
                <a:solidFill>
                  <a:srgbClr val="19364D"/>
                </a:solidFill>
                <a:latin typeface="Aptos"/>
              </a:defRPr>
            </a:pPr>
            <a:r>
              <a:t>After exact body-overlap exclusion</a:t>
            </a:r>
          </a:p>
        </p:txBody>
      </p:sp>
      <p:sp>
        <p:nvSpPr>
          <p:cNvPr id="14" name="TextBox 13"/>
          <p:cNvSpPr txBox="1"/>
          <p:nvPr/>
        </p:nvSpPr>
        <p:spPr>
          <a:xfrm>
            <a:off x="777240" y="4050791"/>
            <a:ext cx="4892040" cy="365760"/>
          </a:xfrm>
          <a:prstGeom prst="rect">
            <a:avLst/>
          </a:prstGeom>
          <a:noFill/>
        </p:spPr>
        <p:txBody>
          <a:bodyPr wrap="square" lIns="0" tIns="0" rIns="0" bIns="0">
            <a:spAutoFit/>
          </a:bodyPr>
          <a:lstStyle/>
          <a:p>
            <a:pPr>
              <a:spcAft>
                <a:spcPts val="700"/>
              </a:spcAft>
              <a:defRPr sz="1400" b="0">
                <a:solidFill>
                  <a:srgbClr val="526779"/>
                </a:solidFill>
                <a:latin typeface="Aptos"/>
              </a:defRPr>
            </a:pPr>
            <a:r>
              <a:t>96.74% accuracy on 1,318 test emails</a:t>
            </a:r>
          </a:p>
        </p:txBody>
      </p:sp>
      <p:sp>
        <p:nvSpPr>
          <p:cNvPr id="15" name="TextBox 14"/>
          <p:cNvSpPr txBox="1"/>
          <p:nvPr/>
        </p:nvSpPr>
        <p:spPr>
          <a:xfrm>
            <a:off x="777240" y="4526280"/>
            <a:ext cx="4892040" cy="292608"/>
          </a:xfrm>
          <a:prstGeom prst="rect">
            <a:avLst/>
          </a:prstGeom>
          <a:noFill/>
        </p:spPr>
        <p:txBody>
          <a:bodyPr wrap="square" lIns="0" tIns="0" rIns="0" bIns="0">
            <a:spAutoFit/>
          </a:bodyPr>
          <a:lstStyle/>
          <a:p>
            <a:pPr>
              <a:spcAft>
                <a:spcPts val="700"/>
              </a:spcAft>
              <a:defRPr sz="1700" b="1">
                <a:solidFill>
                  <a:srgbClr val="19364D"/>
                </a:solidFill>
                <a:latin typeface="Aptos"/>
              </a:defRPr>
            </a:pPr>
            <a:r>
              <a:t>Supervision matters; CLM is not proven unique</a:t>
            </a:r>
          </a:p>
        </p:txBody>
      </p:sp>
      <p:sp>
        <p:nvSpPr>
          <p:cNvPr id="16" name="TextBox 15"/>
          <p:cNvSpPr txBox="1"/>
          <p:nvPr/>
        </p:nvSpPr>
        <p:spPr>
          <a:xfrm>
            <a:off x="777240" y="4873752"/>
            <a:ext cx="4892040" cy="365760"/>
          </a:xfrm>
          <a:prstGeom prst="rect">
            <a:avLst/>
          </a:prstGeom>
          <a:noFill/>
        </p:spPr>
        <p:txBody>
          <a:bodyPr wrap="square" lIns="0" tIns="0" rIns="0" bIns="0">
            <a:spAutoFit/>
          </a:bodyPr>
          <a:lstStyle/>
          <a:p>
            <a:pPr>
              <a:spcAft>
                <a:spcPts val="700"/>
              </a:spcAft>
              <a:defRPr sz="1400" b="0">
                <a:solidFill>
                  <a:srgbClr val="526779"/>
                </a:solidFill>
                <a:latin typeface="Aptos"/>
              </a:defRPr>
            </a:pPr>
            <a:r>
              <a:t>Frozen-embedding linear probe: 94.29% on development</a:t>
            </a:r>
          </a:p>
        </p:txBody>
      </p:sp>
      <p:sp>
        <p:nvSpPr>
          <p:cNvPr id="17" name="TextBox 16"/>
          <p:cNvSpPr txBox="1"/>
          <p:nvPr/>
        </p:nvSpPr>
        <p:spPr>
          <a:xfrm>
            <a:off x="6355080" y="2350008"/>
            <a:ext cx="5074920" cy="274320"/>
          </a:xfrm>
          <a:prstGeom prst="rect">
            <a:avLst/>
          </a:prstGeom>
          <a:noFill/>
        </p:spPr>
        <p:txBody>
          <a:bodyPr wrap="square" lIns="0" tIns="0" rIns="0" bIns="0">
            <a:spAutoFit/>
          </a:bodyPr>
          <a:lstStyle/>
          <a:p>
            <a:pPr>
              <a:spcAft>
                <a:spcPts val="700"/>
              </a:spcAft>
              <a:defRPr sz="1300" b="1">
                <a:solidFill>
                  <a:srgbClr val="C6533D"/>
                </a:solidFill>
                <a:latin typeface="Aptos"/>
              </a:defRPr>
            </a:pPr>
            <a:r>
              <a:t>BEFORE A TEAM PILOT</a:t>
            </a:r>
          </a:p>
        </p:txBody>
      </p:sp>
      <p:sp>
        <p:nvSpPr>
          <p:cNvPr id="18" name="TextBox 17"/>
          <p:cNvSpPr txBox="1"/>
          <p:nvPr/>
        </p:nvSpPr>
        <p:spPr>
          <a:xfrm>
            <a:off x="6355080" y="2880360"/>
            <a:ext cx="5074920" cy="2468880"/>
          </a:xfrm>
          <a:prstGeom prst="rect">
            <a:avLst/>
          </a:prstGeom>
          <a:noFill/>
        </p:spPr>
        <p:txBody>
          <a:bodyPr wrap="square" lIns="0" tIns="0" rIns="0" bIns="0">
            <a:spAutoFit/>
          </a:bodyPr>
          <a:lstStyle/>
          <a:p>
            <a:pPr>
              <a:spcAft>
                <a:spcPts val="700"/>
              </a:spcAft>
              <a:defRPr sz="1800" b="0">
                <a:solidFill>
                  <a:srgbClr val="19364D"/>
                </a:solidFill>
                <a:latin typeface="Aptos"/>
              </a:defRPr>
            </a:pPr>
            <a:r>
              <a:t>1  Validate on representative real email</a:t>
            </a:r>
          </a:p>
          <a:p>
            <a:pPr>
              <a:spcAft>
                <a:spcPts val="700"/>
              </a:spcAft>
              <a:defRPr sz="1800" b="0">
                <a:solidFill>
                  <a:srgbClr val="19364D"/>
                </a:solidFill>
                <a:latin typeface="Aptos"/>
              </a:defRPr>
            </a:pPr>
            <a:r>
              <a:t>    Synthetic data; 51.1% exact body overlap</a:t>
            </a:r>
          </a:p>
          <a:p>
            <a:pPr>
              <a:spcAft>
                <a:spcPts val="700"/>
              </a:spcAft>
              <a:defRPr sz="1800" b="0">
                <a:solidFill>
                  <a:srgbClr val="19364D"/>
                </a:solidFill>
                <a:latin typeface="Aptos"/>
              </a:defRPr>
            </a:pPr>
            <a:r>
              <a:t>2  Compare simple supervised baselines</a:t>
            </a:r>
          </a:p>
          <a:p>
            <a:pPr>
              <a:spcAft>
                <a:spcPts val="700"/>
              </a:spcAft>
              <a:defRPr sz="1800" b="0">
                <a:solidFill>
                  <a:srgbClr val="19364D"/>
                </a:solidFill>
                <a:latin typeface="Aptos"/>
              </a:defRPr>
            </a:pPr>
            <a:r>
              <a:t>    Use one group-deduplicated, frozen test</a:t>
            </a:r>
          </a:p>
          <a:p>
            <a:pPr>
              <a:spcAft>
                <a:spcPts val="700"/>
              </a:spcAft>
              <a:defRPr sz="1800" b="0">
                <a:solidFill>
                  <a:srgbClr val="19364D"/>
                </a:solidFill>
                <a:latin typeface="Aptos"/>
              </a:defRPr>
            </a:pPr>
            <a:r>
              <a:t>3  Add abstention + operational checks</a:t>
            </a:r>
          </a:p>
          <a:p>
            <a:pPr>
              <a:spcAft>
                <a:spcPts val="700"/>
              </a:spcAft>
              <a:defRPr sz="1800" b="0">
                <a:solidFill>
                  <a:srgbClr val="19364D"/>
                </a:solidFill>
                <a:latin typeface="Aptos"/>
              </a:defRPr>
            </a:pPr>
            <a:r>
              <a:t>    Validation thresholds, drift, new-state p95</a:t>
            </a:r>
          </a:p>
        </p:txBody>
      </p:sp>
      <p:sp>
        <p:nvSpPr>
          <p:cNvPr id="19" name="Rounded Rectangle 18"/>
          <p:cNvSpPr/>
          <p:nvPr/>
        </p:nvSpPr>
        <p:spPr>
          <a:xfrm>
            <a:off x="548640" y="5751576"/>
            <a:ext cx="11064240" cy="475488"/>
          </a:xfrm>
          <a:prstGeom prst="roundRect">
            <a:avLst/>
          </a:prstGeom>
          <a:solidFill>
            <a:srgbClr val="DD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49808" y="5861304"/>
            <a:ext cx="10698480" cy="274320"/>
          </a:xfrm>
          <a:prstGeom prst="rect">
            <a:avLst/>
          </a:prstGeom>
          <a:noFill/>
        </p:spPr>
        <p:txBody>
          <a:bodyPr wrap="square" lIns="0" tIns="0" rIns="0" bIns="0">
            <a:spAutoFit/>
          </a:bodyPr>
          <a:lstStyle/>
          <a:p>
            <a:pPr>
              <a:spcAft>
                <a:spcPts val="700"/>
              </a:spcAft>
              <a:defRPr sz="1800" b="1">
                <a:solidFill>
                  <a:srgbClr val="007F82"/>
                </a:solidFill>
                <a:latin typeface="Aptos"/>
              </a:defRPr>
            </a:pPr>
            <a:r>
              <a:t>Recommendation: proceed to real-data validation, not production rollout.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TotalTime>
  <Words>1848</Words>
  <Application>Microsoft Office PowerPoint</Application>
  <PresentationFormat>Widescreen</PresentationFormat>
  <Paragraphs>153</Paragraphs>
  <Slides>5</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PowerPoint Presentation</vt:lpstr>
      <vt:lpstr>Contrastive Language Models </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CLM email routing: motivation and experiment findings</dc:title>
  <dc:subject>Frozen Qwen3-8B encoder and supervised CLM head adaptation</dc:subject>
  <dc:creator>CLM experiment summary</dc:creator>
  <cp:keywords/>
  <dc:description>generated using python-pptx</dc:description>
  <cp:lastModifiedBy>Prashant Rajoria</cp:lastModifiedBy>
  <cp:revision>2</cp:revision>
  <dcterms:created xsi:type="dcterms:W3CDTF">2013-01-27T09:14:16Z</dcterms:created>
  <dcterms:modified xsi:type="dcterms:W3CDTF">2026-10-21T06:18:07Z</dcterms:modified>
  <cp:category/>
</cp:coreProperties>
</file>